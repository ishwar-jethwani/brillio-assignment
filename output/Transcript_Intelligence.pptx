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8"/>
  </p:sldMasterIdLst>
  <p:sldIdLst>
    <p:sldId id="255" r:id="rId1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Master" Target="slideMasters/slideMaster1.xml"/><Relationship Id="rId19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B3A67"/>
          </a:solidFill>
          <a:ln>
            <a:noFill/>
          </a:ln>
        </p:spPr>
        <p:txBody>
          <a:bodyPr/>
          <a:p/>
        </p:txBody>
      </p:sp>
      <p:sp>
        <p:nvSpPr>
          <p:cNvPr id="3" name="accent"/>
          <p:cNvSpPr/>
          <p:nvPr/>
        </p:nvSpPr>
        <p:spPr>
          <a:xfrm>
            <a:off x="0" y="4250000"/>
            <a:ext cx="12192000" cy="60000"/>
          </a:xfrm>
          <a:prstGeom prst="rect">
            <a:avLst/>
          </a:prstGeom>
          <a:solidFill>
            <a:srgbClr val="F3A712"/>
          </a:solidFill>
          <a:ln>
            <a:noFill/>
          </a:ln>
        </p:spPr>
        <p:txBody>
          <a:bodyPr/>
          <a:p/>
        </p:txBody>
      </p:sp>
      <p:sp>
        <p:nvSpPr>
          <p:cNvPr id="4" name="tag"/>
          <p:cNvSpPr txBox="1"/>
          <p:nvPr/>
        </p:nvSpPr>
        <p:spPr>
          <a:xfrm>
            <a:off x="838200" y="2050000"/>
            <a:ext cx="10515600" cy="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3A712"/>
                </a:solidFill>
                <a:latin typeface="Segoe UI"/>
              </a:rPr>
              <a:t>TAKE-HOME ASSIGNMENT  -  FINDINGS &amp; RECOMMENDATIONS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838200" y="2450000"/>
            <a:ext cx="10515600" cy="1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Segoe UI"/>
              </a:rPr>
              <a:t>Transcript Intelligence</a:t>
            </a:r>
          </a:p>
        </p:txBody>
      </p:sp>
      <p:sp>
        <p:nvSpPr>
          <p:cNvPr id="6" name="sub"/>
          <p:cNvSpPr txBox="1"/>
          <p:nvPr/>
        </p:nvSpPr>
        <p:spPr>
          <a:xfrm>
            <a:off x="838200" y="4450000"/>
            <a:ext cx="10515600" cy="1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900" dirty="0">
                <a:solidFill>
                  <a:srgbClr val="C3CBE0"/>
                </a:solidFill>
                <a:latin typeface="Segoe UI"/>
              </a:rPr>
              <a:t>Turning ~100 call transcripts into decisions: theme categorisation, sentiment trends, and the insights leadership can act on.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2000" cy="1280000"/>
          </a:xfrm>
          <a:prstGeom prst="rect">
            <a:avLst/>
          </a:prstGeom>
          <a:solidFill>
            <a:srgbClr val="2B3A67"/>
          </a:solidFill>
          <a:ln>
            <a:noFill/>
          </a:ln>
        </p:spPr>
        <p:txBody>
          <a:bodyPr/>
          <a:p/>
        </p:txBody>
      </p:sp>
      <p:sp>
        <p:nvSpPr>
          <p:cNvPr id="3" name="accentline"/>
          <p:cNvSpPr/>
          <p:nvPr/>
        </p:nvSpPr>
        <p:spPr>
          <a:xfrm>
            <a:off x="0" y="1280000"/>
            <a:ext cx="12192000" cy="36000"/>
          </a:xfrm>
          <a:prstGeom prst="rect">
            <a:avLst/>
          </a:prstGeom>
          <a:solidFill>
            <a:srgbClr val="F3A712"/>
          </a:solidFill>
          <a:ln>
            <a:noFill/>
          </a:ln>
        </p:spPr>
        <p:txBody>
          <a:bodyPr/>
          <a:p/>
        </p:txBody>
      </p:sp>
      <p:sp>
        <p:nvSpPr>
          <p:cNvPr id="4" name="eyebrow"/>
          <p:cNvSpPr txBox="1"/>
          <p:nvPr/>
        </p:nvSpPr>
        <p:spPr>
          <a:xfrm>
            <a:off x="838200" y="300000"/>
            <a:ext cx="105156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3A712"/>
                </a:solidFill>
                <a:latin typeface="Segoe UI"/>
              </a:rPr>
              <a:t>THE BRIEF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838200" y="620000"/>
            <a:ext cx="10515600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Segoe UI"/>
              </a:rPr>
              <a:t>What we were asked to do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838200" y="1560000"/>
            <a:ext cx="105156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700"/>
              </a:spcAft>
              <a:buNone/>
            </a:pPr>
            <a:r>
              <a:rPr lang="en-US" sz="1700" dirty="0">
                <a:solidFill>
                  <a:srgbClr val="1D2433"/>
                </a:solidFill>
                <a:latin typeface="Segoe UI"/>
              </a:rPr>
              <a:t>A B2B SaaS company captures call transcripts across the org. The 'Transcript Intelligence' tool should help many stakeholders make better decisions from them.</a:t>
            </a:r>
          </a:p>
          <a:p>
            <a:pPr marL="274320" indent="-274320" algn="l">
              <a:spcAft>
                <a:spcPts val="500"/>
              </a:spcAft>
              <a:buChar char="•"/>
            </a:pPr>
            <a:r>
              <a:rPr lang="en-US" sz="1700" b="1" dirty="0">
                <a:solidFill>
                  <a:srgbClr val="1D2433"/>
                </a:solidFill>
                <a:latin typeface="Segoe UI"/>
              </a:rPr>
              <a:t>Task 1 - Build a pipeline that categorises transcripts by topic / theme</a:t>
            </a:r>
          </a:p>
          <a:p>
            <a:pPr marL="274320" indent="-274320" algn="l">
              <a:spcAft>
                <a:spcPts val="500"/>
              </a:spcAft>
              <a:buChar char="•"/>
            </a:pPr>
            <a:r>
              <a:rPr lang="en-US" sz="1700" b="1" dirty="0">
                <a:solidFill>
                  <a:srgbClr val="1D2433"/>
                </a:solidFill>
                <a:latin typeface="Segoe UI"/>
              </a:rPr>
              <a:t>Task 2 - Sentiment analysis across call types, and explain the trends</a:t>
            </a:r>
          </a:p>
          <a:p>
            <a:pPr marL="274320" indent="-274320" algn="l">
              <a:spcAft>
                <a:spcPts val="500"/>
              </a:spcAft>
              <a:buChar char="•"/>
            </a:pPr>
            <a:r>
              <a:rPr lang="en-US" sz="1700" b="1" dirty="0">
                <a:solidFill>
                  <a:srgbClr val="1D2433"/>
                </a:solidFill>
                <a:latin typeface="Segoe UI"/>
              </a:rPr>
              <a:t>Task 3 - Surface 2-3 additional, non-obvious insights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en-US" sz="1700" dirty="0">
                <a:solidFill>
                  <a:srgbClr val="1D2433"/>
                </a:solidFill>
                <a:latin typeface="Segoe UI"/>
              </a:rPr>
              <a:t> 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Segoe UI"/>
              </a:rPr>
              <a:t>Deliverables: a slide deck (this), a readable code repo, and a video demo. Lead with insights, not import statements.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838200" y="6500000"/>
            <a:ext cx="105156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Segoe UI"/>
              </a:rPr>
              <a:t>Transcript Intelligence  -  Take-Home Assignment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2000" cy="1280000"/>
          </a:xfrm>
          <a:prstGeom prst="rect">
            <a:avLst/>
          </a:prstGeom>
          <a:solidFill>
            <a:srgbClr val="2B3A67"/>
          </a:solidFill>
          <a:ln>
            <a:noFill/>
          </a:ln>
        </p:spPr>
        <p:txBody>
          <a:bodyPr/>
          <a:p/>
        </p:txBody>
      </p:sp>
      <p:sp>
        <p:nvSpPr>
          <p:cNvPr id="3" name="accentline"/>
          <p:cNvSpPr/>
          <p:nvPr/>
        </p:nvSpPr>
        <p:spPr>
          <a:xfrm>
            <a:off x="0" y="1280000"/>
            <a:ext cx="12192000" cy="36000"/>
          </a:xfrm>
          <a:prstGeom prst="rect">
            <a:avLst/>
          </a:prstGeom>
          <a:solidFill>
            <a:srgbClr val="F3A712"/>
          </a:solidFill>
          <a:ln>
            <a:noFill/>
          </a:ln>
        </p:spPr>
        <p:txBody>
          <a:bodyPr/>
          <a:p/>
        </p:txBody>
      </p:sp>
      <p:sp>
        <p:nvSpPr>
          <p:cNvPr id="4" name="eyebrow"/>
          <p:cNvSpPr txBox="1"/>
          <p:nvPr/>
        </p:nvSpPr>
        <p:spPr>
          <a:xfrm>
            <a:off x="838200" y="300000"/>
            <a:ext cx="105156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3A712"/>
                </a:solidFill>
                <a:latin typeface="Segoe UI"/>
              </a:rPr>
              <a:t>BACKGROUND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838200" y="620000"/>
            <a:ext cx="10515600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Segoe UI"/>
              </a:rPr>
              <a:t>The dataset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838200" y="1560000"/>
            <a:ext cx="105156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50"/>
              </a:spcAft>
              <a:buNone/>
            </a:pPr>
            <a:r>
              <a:rPr lang="en-US" sz="1650" dirty="0">
                <a:solidFill>
                  <a:srgbClr val="1D2433"/>
                </a:solidFill>
                <a:latin typeface="Segoe UI"/>
              </a:rPr>
              <a:t>100 transcript folders. Each carries six JSON files: meeting metadata, speaker turns, a full sentence-level transcript, and an upstream summary with topics, sentiment &amp; typed key-moments.</a:t>
            </a:r>
          </a:p>
          <a:p>
            <a:pPr marL="274320" indent="-274320" algn="l">
              <a:spcAft>
                <a:spcPts val="500"/>
              </a:spcAft>
              <a:buChar char="•"/>
            </a:pPr>
            <a:r>
              <a:rPr lang="en-US" sz="1700" dirty="0">
                <a:solidFill>
                  <a:srgbClr val="1D2433"/>
                </a:solidFill>
                <a:latin typeface="Segoe UI"/>
              </a:rPr>
              <a:t>Three call types — but the type is NOT a field; we derive it:</a:t>
            </a:r>
          </a:p>
          <a:p>
            <a:pPr marL="548640" indent="-274320" algn="l">
              <a:spcAft>
                <a:spcPts val="500"/>
              </a:spcAft>
              <a:buChar char="•"/>
            </a:pPr>
            <a:r>
              <a:rPr lang="en-US" sz="1500" dirty="0">
                <a:solidFill>
                  <a:srgbClr val="1D2433"/>
                </a:solidFill>
                <a:latin typeface="Segoe UI"/>
              </a:rPr>
              <a:t>Support — title is a 'Support Case #…' ticket</a:t>
            </a:r>
          </a:p>
          <a:p>
            <a:pPr marL="548640" indent="-274320" algn="l">
              <a:spcAft>
                <a:spcPts val="500"/>
              </a:spcAft>
              <a:buChar char="•"/>
            </a:pPr>
            <a:r>
              <a:rPr lang="en-US" sz="1500" dirty="0">
                <a:solidFill>
                  <a:srgbClr val="1D2433"/>
                </a:solidFill>
                <a:latin typeface="Segoe UI"/>
              </a:rPr>
              <a:t>External — a non-Aegis (customer) email domain is in the room</a:t>
            </a:r>
          </a:p>
          <a:p>
            <a:pPr marL="548640" indent="-274320" algn="l">
              <a:spcAft>
                <a:spcPts val="500"/>
              </a:spcAft>
              <a:buChar char="•"/>
            </a:pPr>
            <a:r>
              <a:rPr lang="en-US" sz="1500" dirty="0">
                <a:solidFill>
                  <a:srgbClr val="1D2433"/>
                </a:solidFill>
                <a:latin typeface="Segoe UI"/>
              </a:rPr>
              <a:t>Internal — everyone is on aegiscloud.com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2B3A67"/>
                </a:solidFill>
                <a:latin typeface="Segoe UI"/>
              </a:rPr>
              <a:t>Result: 43 external · 30 internal · 27 support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838200" y="6500000"/>
            <a:ext cx="105156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Segoe UI"/>
              </a:rPr>
              <a:t>Transcript Intelligence  -  Take-Home Assignment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2000" cy="1280000"/>
          </a:xfrm>
          <a:prstGeom prst="rect">
            <a:avLst/>
          </a:prstGeom>
          <a:solidFill>
            <a:srgbClr val="2B3A67"/>
          </a:solidFill>
          <a:ln>
            <a:noFill/>
          </a:ln>
        </p:spPr>
        <p:txBody>
          <a:bodyPr/>
          <a:p/>
        </p:txBody>
      </p:sp>
      <p:sp>
        <p:nvSpPr>
          <p:cNvPr id="3" name="accentline"/>
          <p:cNvSpPr/>
          <p:nvPr/>
        </p:nvSpPr>
        <p:spPr>
          <a:xfrm>
            <a:off x="0" y="1280000"/>
            <a:ext cx="12192000" cy="36000"/>
          </a:xfrm>
          <a:prstGeom prst="rect">
            <a:avLst/>
          </a:prstGeom>
          <a:solidFill>
            <a:srgbClr val="F3A712"/>
          </a:solidFill>
          <a:ln>
            <a:noFill/>
          </a:ln>
        </p:spPr>
        <p:txBody>
          <a:bodyPr/>
          <a:p/>
        </p:txBody>
      </p:sp>
      <p:sp>
        <p:nvSpPr>
          <p:cNvPr id="4" name="eyebrow"/>
          <p:cNvSpPr txBox="1"/>
          <p:nvPr/>
        </p:nvSpPr>
        <p:spPr>
          <a:xfrm>
            <a:off x="838200" y="300000"/>
            <a:ext cx="105156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3A712"/>
                </a:solidFill>
                <a:latin typeface="Segoe UI"/>
              </a:rPr>
              <a:t>HOW IT WORKS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838200" y="620000"/>
            <a:ext cx="10515600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Segoe UI"/>
              </a:rPr>
              <a:t>Pipeline architecture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838200" y="1560000"/>
            <a:ext cx="105156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50"/>
              </a:spcAft>
              <a:buNone/>
            </a:pPr>
            <a:r>
              <a:rPr lang="en-US" sz="1700" b="1" dirty="0">
                <a:solidFill>
                  <a:srgbClr val="2B3A67"/>
                </a:solidFill>
                <a:latin typeface="Segoe UI"/>
              </a:rPr>
              <a:t>load  →  classify call type  →  categorise theme  →  score sentiment  →  roll up  →  render</a:t>
            </a:r>
          </a:p>
          <a:p>
            <a:pPr marL="274320" indent="-274320" algn="l">
              <a:spcAft>
                <a:spcPts val="500"/>
              </a:spcAft>
              <a:buChar char="•"/>
            </a:pPr>
            <a:r>
              <a:rPr lang="en-US" sz="1700" dirty="0">
                <a:solidFill>
                  <a:srgbClr val="1D2433"/>
                </a:solidFill>
                <a:latin typeface="Segoe UI"/>
              </a:rPr>
              <a:t>Zero dependencies — Python stdlib only (the grading machine had a full disk); deterministic and reproducible in &lt;1s</a:t>
            </a:r>
          </a:p>
          <a:p>
            <a:pPr marL="274320" indent="-274320" algn="l">
              <a:spcAft>
                <a:spcPts val="500"/>
              </a:spcAft>
              <a:buChar char="•"/>
            </a:pPr>
            <a:r>
              <a:rPr lang="en-US" sz="1700" dirty="0">
                <a:solidFill>
                  <a:srgbClr val="1D2433"/>
                </a:solidFill>
                <a:latin typeface="Segoe UI"/>
              </a:rPr>
              <a:t>Outputs: results.json (data), insights.md (narrative), report.html (interactive dashboard), and this deck — all regenerated by one command</a:t>
            </a:r>
          </a:p>
          <a:p>
            <a:pPr marL="274320" indent="-274320" algn="l">
              <a:spcAft>
                <a:spcPts val="500"/>
              </a:spcAft>
              <a:buChar char="•"/>
            </a:pPr>
            <a:r>
              <a:rPr lang="en-US" sz="1700" dirty="0">
                <a:solidFill>
                  <a:srgbClr val="1D2433"/>
                </a:solidFill>
                <a:latin typeface="Segoe UI"/>
              </a:rPr>
              <a:t>20-test suite pins the logic and the dataset invariants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838200" y="6500000"/>
            <a:ext cx="105156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Segoe UI"/>
              </a:rPr>
              <a:t>Transcript Intelligence  -  Take-Home Assignment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433"/>
          </a:solidFill>
          <a:ln>
            <a:noFill/>
          </a:ln>
        </p:spPr>
        <p:txBody>
          <a:bodyPr/>
          <a:p/>
        </p:txBody>
      </p:sp>
      <p:sp>
        <p:nvSpPr>
          <p:cNvPr id="3" name="band"/>
          <p:cNvSpPr/>
          <p:nvPr/>
        </p:nvSpPr>
        <p:spPr>
          <a:xfrm>
            <a:off x="0" y="2750000"/>
            <a:ext cx="220000" cy="1350000"/>
          </a:xfrm>
          <a:prstGeom prst="rect">
            <a:avLst/>
          </a:prstGeom>
          <a:solidFill>
            <a:srgbClr val="F3A712"/>
          </a:solidFill>
          <a:ln>
            <a:noFill/>
          </a:ln>
        </p:spPr>
        <p:txBody>
          <a:bodyPr/>
          <a:p/>
        </p:txBody>
      </p:sp>
      <p:sp>
        <p:nvSpPr>
          <p:cNvPr id="4" name="num"/>
          <p:cNvSpPr txBox="1"/>
          <p:nvPr/>
        </p:nvSpPr>
        <p:spPr>
          <a:xfrm>
            <a:off x="838200" y="2500000"/>
            <a:ext cx="10515600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3A712"/>
                </a:solidFill>
                <a:latin typeface="Segoe UI"/>
              </a:rPr>
              <a:t>TASK 1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838200" y="3000000"/>
            <a:ext cx="10515600" cy="11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Segoe UI"/>
              </a:rPr>
              <a:t>Topic / Theme Categorisation</a:t>
            </a:r>
          </a:p>
        </p:txBody>
      </p:sp>
      <p:sp>
        <p:nvSpPr>
          <p:cNvPr id="6" name="sub"/>
          <p:cNvSpPr txBox="1"/>
          <p:nvPr/>
        </p:nvSpPr>
        <p:spPr>
          <a:xfrm>
            <a:off x="838200" y="4150000"/>
            <a:ext cx="105156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700" dirty="0">
                <a:solidFill>
                  <a:srgbClr val="C3CBE0"/>
                </a:solidFill>
                <a:latin typeface="Segoe UI"/>
              </a:rPr>
              <a:t>Approach, the categories we found, and why.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2000" cy="1280000"/>
          </a:xfrm>
          <a:prstGeom prst="rect">
            <a:avLst/>
          </a:prstGeom>
          <a:solidFill>
            <a:srgbClr val="2B3A67"/>
          </a:solidFill>
          <a:ln>
            <a:noFill/>
          </a:ln>
        </p:spPr>
        <p:txBody>
          <a:bodyPr/>
          <a:p/>
        </p:txBody>
      </p:sp>
      <p:sp>
        <p:nvSpPr>
          <p:cNvPr id="3" name="accentline"/>
          <p:cNvSpPr/>
          <p:nvPr/>
        </p:nvSpPr>
        <p:spPr>
          <a:xfrm>
            <a:off x="0" y="1280000"/>
            <a:ext cx="12192000" cy="36000"/>
          </a:xfrm>
          <a:prstGeom prst="rect">
            <a:avLst/>
          </a:prstGeom>
          <a:solidFill>
            <a:srgbClr val="F3A712"/>
          </a:solidFill>
          <a:ln>
            <a:noFill/>
          </a:ln>
        </p:spPr>
        <p:txBody>
          <a:bodyPr/>
          <a:p/>
        </p:txBody>
      </p:sp>
      <p:sp>
        <p:nvSpPr>
          <p:cNvPr id="4" name="eyebrow"/>
          <p:cNvSpPr txBox="1"/>
          <p:nvPr/>
        </p:nvSpPr>
        <p:spPr>
          <a:xfrm>
            <a:off x="838200" y="300000"/>
            <a:ext cx="105156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3A712"/>
                </a:solidFill>
                <a:latin typeface="Segoe UI"/>
              </a:rPr>
              <a:t>TASK 1 · APPROACH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838200" y="620000"/>
            <a:ext cx="10515600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Segoe UI"/>
              </a:rPr>
              <a:t>Approach: hybrid, rule-based over upstream signals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838200" y="1560000"/>
            <a:ext cx="105156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274320" indent="-274320" algn="l">
              <a:spcAft>
                <a:spcPts val="500"/>
              </a:spcAft>
              <a:buChar char="•"/>
            </a:pPr>
            <a:r>
              <a:rPr lang="en-US" sz="1700" dirty="0">
                <a:solidFill>
                  <a:srgbClr val="1D2433"/>
                </a:solidFill>
                <a:latin typeface="Segoe UI"/>
              </a:rPr>
              <a:t>Every transcript already ships model-generated topics + typed key-moments. We reuse them instead of paying for a 2nd LLM pass.</a:t>
            </a:r>
          </a:p>
          <a:p>
            <a:pPr marL="274320" indent="-274320" algn="l">
              <a:spcAft>
                <a:spcPts val="500"/>
              </a:spcAft>
              <a:buChar char="•"/>
            </a:pPr>
            <a:r>
              <a:rPr lang="en-US" sz="1700" dirty="0">
                <a:solidFill>
                  <a:srgbClr val="1D2433"/>
                </a:solidFill>
                <a:latin typeface="Segoe UI"/>
              </a:rPr>
              <a:t>Map those signals into a fixed, human-named taxonomy with a WEIGHTED keyword rule set: title counts most, then the dominant first topic, then trailing topics.</a:t>
            </a:r>
          </a:p>
          <a:p>
            <a:pPr marL="274320" indent="-274320" algn="l">
              <a:spcAft>
                <a:spcPts val="500"/>
              </a:spcAft>
              <a:buChar char="•"/>
            </a:pPr>
            <a:r>
              <a:rPr lang="en-US" sz="1700" b="1" dirty="0">
                <a:solidFill>
                  <a:srgbClr val="2B3A67"/>
                </a:solidFill>
                <a:latin typeface="Segoe UI"/>
              </a:rPr>
              <a:t>Why weighting matters: a renewal call that merely mentions the outage stays under 'Renewal' — its title wins — instead of being hijacked into 'Outage'.</a:t>
            </a:r>
          </a:p>
          <a:p>
            <a:pPr marL="274320" indent="-274320" algn="l">
              <a:spcAft>
                <a:spcPts val="500"/>
              </a:spcAft>
              <a:buChar char="•"/>
            </a:pPr>
            <a:r>
              <a:rPr lang="en-US" sz="1700" dirty="0">
                <a:solidFill>
                  <a:srgbClr val="6B7280"/>
                </a:solidFill>
                <a:latin typeface="Segoe UI"/>
              </a:rPr>
              <a:t>Auditable, instant, reproducible — and defensible to a panel. Clustering/LLM is the next step to DISCOVER new themes, not sort into known ones.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838200" y="6500000"/>
            <a:ext cx="105156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Segoe UI"/>
              </a:rPr>
              <a:t>Transcript Intelligence  -  Take-Home Assignment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2000" cy="1280000"/>
          </a:xfrm>
          <a:prstGeom prst="rect">
            <a:avLst/>
          </a:prstGeom>
          <a:solidFill>
            <a:srgbClr val="2B3A67"/>
          </a:solidFill>
          <a:ln>
            <a:noFill/>
          </a:ln>
        </p:spPr>
        <p:txBody>
          <a:bodyPr/>
          <a:p/>
        </p:txBody>
      </p:sp>
      <p:sp>
        <p:nvSpPr>
          <p:cNvPr id="3" name="accentline"/>
          <p:cNvSpPr/>
          <p:nvPr/>
        </p:nvSpPr>
        <p:spPr>
          <a:xfrm>
            <a:off x="0" y="1280000"/>
            <a:ext cx="12192000" cy="36000"/>
          </a:xfrm>
          <a:prstGeom prst="rect">
            <a:avLst/>
          </a:prstGeom>
          <a:solidFill>
            <a:srgbClr val="F3A712"/>
          </a:solidFill>
          <a:ln>
            <a:noFill/>
          </a:ln>
        </p:spPr>
        <p:txBody>
          <a:bodyPr/>
          <a:p/>
        </p:txBody>
      </p:sp>
      <p:sp>
        <p:nvSpPr>
          <p:cNvPr id="4" name="eyebrow"/>
          <p:cNvSpPr txBox="1"/>
          <p:nvPr/>
        </p:nvSpPr>
        <p:spPr>
          <a:xfrm>
            <a:off x="838200" y="300000"/>
            <a:ext cx="105156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3A712"/>
                </a:solidFill>
                <a:latin typeface="Segoe UI"/>
              </a:rPr>
              <a:t>TASK 1 · RESULTS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838200" y="620000"/>
            <a:ext cx="10515600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Segoe UI"/>
              </a:rPr>
              <a:t>10 themes, all 100 calls categorised</a:t>
            </a:r>
          </a:p>
        </p:txBody>
      </p:sp>
      <p:sp>
        <p:nvSpPr>
          <p:cNvPr id="6" name="h0"/>
          <p:cNvSpPr txBox="1"/>
          <p:nvPr/>
        </p:nvSpPr>
        <p:spPr>
          <a:xfrm>
            <a:off x="838200" y="1620000"/>
            <a:ext cx="51618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6B7280"/>
                </a:solidFill>
                <a:latin typeface="Segoe UI"/>
              </a:rPr>
              <a:t>Theme</a:t>
            </a:r>
          </a:p>
        </p:txBody>
      </p:sp>
      <p:sp>
        <p:nvSpPr>
          <p:cNvPr id="7" name="h1"/>
          <p:cNvSpPr txBox="1"/>
          <p:nvPr/>
        </p:nvSpPr>
        <p:spPr>
          <a:xfrm>
            <a:off x="6000000" y="1620000"/>
            <a:ext cx="160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6B7280"/>
                </a:solidFill>
                <a:latin typeface="Segoe UI"/>
              </a:rPr>
              <a:t>Calls</a:t>
            </a:r>
          </a:p>
        </p:txBody>
      </p:sp>
      <p:sp>
        <p:nvSpPr>
          <p:cNvPr id="8" name="h2"/>
          <p:cNvSpPr txBox="1"/>
          <p:nvPr/>
        </p:nvSpPr>
        <p:spPr>
          <a:xfrm>
            <a:off x="7600000" y="1620000"/>
            <a:ext cx="210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6B7280"/>
                </a:solidFill>
                <a:latin typeface="Segoe UI"/>
              </a:rPr>
              <a:t>Avg sentiment</a:t>
            </a:r>
          </a:p>
        </p:txBody>
      </p:sp>
      <p:sp>
        <p:nvSpPr>
          <p:cNvPr id="9" name="h3"/>
          <p:cNvSpPr txBox="1"/>
          <p:nvPr/>
        </p:nvSpPr>
        <p:spPr>
          <a:xfrm>
            <a:off x="9700000" y="1620000"/>
            <a:ext cx="200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6B7280"/>
                </a:solidFill>
                <a:latin typeface="Segoe UI"/>
              </a:rPr>
              <a:t>% churn</a:t>
            </a:r>
          </a:p>
        </p:txBody>
      </p:sp>
      <p:sp>
        <p:nvSpPr>
          <p:cNvPr id="10" name="rowbg0"/>
          <p:cNvSpPr/>
          <p:nvPr/>
        </p:nvSpPr>
        <p:spPr>
          <a:xfrm>
            <a:off x="760000" y="2050000"/>
            <a:ext cx="10672000" cy="430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/>
          <a:p/>
        </p:txBody>
      </p:sp>
      <p:sp>
        <p:nvSpPr>
          <p:cNvPr id="11" name="c0_0"/>
          <p:cNvSpPr txBox="1"/>
          <p:nvPr/>
        </p:nvSpPr>
        <p:spPr>
          <a:xfrm>
            <a:off x="838200" y="2090000"/>
            <a:ext cx="51618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2433"/>
                </a:solidFill>
                <a:latin typeface="Segoe UI"/>
              </a:rPr>
              <a:t>Outage &amp; Incident Response</a:t>
            </a:r>
          </a:p>
        </p:txBody>
      </p:sp>
      <p:sp>
        <p:nvSpPr>
          <p:cNvPr id="12" name="c0_1"/>
          <p:cNvSpPr txBox="1"/>
          <p:nvPr/>
        </p:nvSpPr>
        <p:spPr>
          <a:xfrm>
            <a:off x="6000000" y="2090000"/>
            <a:ext cx="16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1D2433"/>
                </a:solidFill>
                <a:latin typeface="Segoe UI"/>
              </a:rPr>
              <a:t>18</a:t>
            </a:r>
          </a:p>
        </p:txBody>
      </p:sp>
      <p:sp>
        <p:nvSpPr>
          <p:cNvPr id="13" name="c0_2"/>
          <p:cNvSpPr txBox="1"/>
          <p:nvPr/>
        </p:nvSpPr>
        <p:spPr>
          <a:xfrm>
            <a:off x="7600000" y="2090000"/>
            <a:ext cx="21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4572E"/>
                </a:solidFill>
                <a:latin typeface="Segoe UI"/>
              </a:rPr>
              <a:t>2.28</a:t>
            </a:r>
          </a:p>
        </p:txBody>
      </p:sp>
      <p:sp>
        <p:nvSpPr>
          <p:cNvPr id="14" name="c0_3"/>
          <p:cNvSpPr txBox="1"/>
          <p:nvPr/>
        </p:nvSpPr>
        <p:spPr>
          <a:xfrm>
            <a:off x="9700000" y="2090000"/>
            <a:ext cx="20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1D2433"/>
                </a:solidFill>
                <a:latin typeface="Segoe UI"/>
              </a:rPr>
              <a:t>83.3%</a:t>
            </a:r>
          </a:p>
        </p:txBody>
      </p:sp>
      <p:sp>
        <p:nvSpPr>
          <p:cNvPr id="15" name="rowbg1"/>
          <p:cNvSpPr/>
          <p:nvPr/>
        </p:nvSpPr>
        <p:spPr>
          <a:xfrm>
            <a:off x="760000" y="2480000"/>
            <a:ext cx="10672000" cy="4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16" name="c1_0"/>
          <p:cNvSpPr txBox="1"/>
          <p:nvPr/>
        </p:nvSpPr>
        <p:spPr>
          <a:xfrm>
            <a:off x="838200" y="2520000"/>
            <a:ext cx="51618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2433"/>
                </a:solidFill>
                <a:latin typeface="Segoe UI"/>
              </a:rPr>
              <a:t>Compliance &amp; Audit</a:t>
            </a:r>
          </a:p>
        </p:txBody>
      </p:sp>
      <p:sp>
        <p:nvSpPr>
          <p:cNvPr id="17" name="c1_1"/>
          <p:cNvSpPr txBox="1"/>
          <p:nvPr/>
        </p:nvSpPr>
        <p:spPr>
          <a:xfrm>
            <a:off x="6000000" y="2520000"/>
            <a:ext cx="16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1D2433"/>
                </a:solidFill>
                <a:latin typeface="Segoe UI"/>
              </a:rPr>
              <a:t>17</a:t>
            </a:r>
          </a:p>
        </p:txBody>
      </p:sp>
      <p:sp>
        <p:nvSpPr>
          <p:cNvPr id="18" name="c1_2"/>
          <p:cNvSpPr txBox="1"/>
          <p:nvPr/>
        </p:nvSpPr>
        <p:spPr>
          <a:xfrm>
            <a:off x="7600000" y="2520000"/>
            <a:ext cx="21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F9E44"/>
                </a:solidFill>
                <a:latin typeface="Segoe UI"/>
              </a:rPr>
              <a:t>4.33</a:t>
            </a:r>
          </a:p>
        </p:txBody>
      </p:sp>
      <p:sp>
        <p:nvSpPr>
          <p:cNvPr id="19" name="c1_3"/>
          <p:cNvSpPr txBox="1"/>
          <p:nvPr/>
        </p:nvSpPr>
        <p:spPr>
          <a:xfrm>
            <a:off x="9700000" y="2520000"/>
            <a:ext cx="20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1D2433"/>
                </a:solidFill>
                <a:latin typeface="Segoe UI"/>
              </a:rPr>
              <a:t>23.5%</a:t>
            </a:r>
          </a:p>
        </p:txBody>
      </p:sp>
      <p:sp>
        <p:nvSpPr>
          <p:cNvPr id="20" name="rowbg2"/>
          <p:cNvSpPr/>
          <p:nvPr/>
        </p:nvSpPr>
        <p:spPr>
          <a:xfrm>
            <a:off x="760000" y="2910000"/>
            <a:ext cx="10672000" cy="430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/>
          <a:p/>
        </p:txBody>
      </p:sp>
      <p:sp>
        <p:nvSpPr>
          <p:cNvPr id="21" name="c2_0"/>
          <p:cNvSpPr txBox="1"/>
          <p:nvPr/>
        </p:nvSpPr>
        <p:spPr>
          <a:xfrm>
            <a:off x="838200" y="2950000"/>
            <a:ext cx="51618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2433"/>
                </a:solidFill>
                <a:latin typeface="Segoe UI"/>
              </a:rPr>
              <a:t>Product Bug &amp; Technical Support</a:t>
            </a:r>
          </a:p>
        </p:txBody>
      </p:sp>
      <p:sp>
        <p:nvSpPr>
          <p:cNvPr id="22" name="c2_1"/>
          <p:cNvSpPr txBox="1"/>
          <p:nvPr/>
        </p:nvSpPr>
        <p:spPr>
          <a:xfrm>
            <a:off x="6000000" y="2950000"/>
            <a:ext cx="16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1D2433"/>
                </a:solidFill>
                <a:latin typeface="Segoe UI"/>
              </a:rPr>
              <a:t>16</a:t>
            </a:r>
          </a:p>
        </p:txBody>
      </p:sp>
      <p:sp>
        <p:nvSpPr>
          <p:cNvPr id="23" name="c2_2"/>
          <p:cNvSpPr txBox="1"/>
          <p:nvPr/>
        </p:nvSpPr>
        <p:spPr>
          <a:xfrm>
            <a:off x="7600000" y="2950000"/>
            <a:ext cx="21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4572E"/>
                </a:solidFill>
                <a:latin typeface="Segoe UI"/>
              </a:rPr>
              <a:t>2.54</a:t>
            </a:r>
          </a:p>
        </p:txBody>
      </p:sp>
      <p:sp>
        <p:nvSpPr>
          <p:cNvPr id="24" name="c2_3"/>
          <p:cNvSpPr txBox="1"/>
          <p:nvPr/>
        </p:nvSpPr>
        <p:spPr>
          <a:xfrm>
            <a:off x="9700000" y="2950000"/>
            <a:ext cx="20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1D2433"/>
                </a:solidFill>
                <a:latin typeface="Segoe UI"/>
              </a:rPr>
              <a:t>93.8%</a:t>
            </a:r>
          </a:p>
        </p:txBody>
      </p:sp>
      <p:sp>
        <p:nvSpPr>
          <p:cNvPr id="25" name="rowbg3"/>
          <p:cNvSpPr/>
          <p:nvPr/>
        </p:nvSpPr>
        <p:spPr>
          <a:xfrm>
            <a:off x="760000" y="3340000"/>
            <a:ext cx="10672000" cy="4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6" name="c3_0"/>
          <p:cNvSpPr txBox="1"/>
          <p:nvPr/>
        </p:nvSpPr>
        <p:spPr>
          <a:xfrm>
            <a:off x="838200" y="3380000"/>
            <a:ext cx="51618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2433"/>
                </a:solidFill>
                <a:latin typeface="Segoe UI"/>
              </a:rPr>
              <a:t>Renewal &amp; Churn Risk</a:t>
            </a:r>
          </a:p>
        </p:txBody>
      </p:sp>
      <p:sp>
        <p:nvSpPr>
          <p:cNvPr id="27" name="c3_1"/>
          <p:cNvSpPr txBox="1"/>
          <p:nvPr/>
        </p:nvSpPr>
        <p:spPr>
          <a:xfrm>
            <a:off x="6000000" y="3380000"/>
            <a:ext cx="16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1D2433"/>
                </a:solidFill>
                <a:latin typeface="Segoe UI"/>
              </a:rPr>
              <a:t>14</a:t>
            </a:r>
          </a:p>
        </p:txBody>
      </p:sp>
      <p:sp>
        <p:nvSpPr>
          <p:cNvPr id="28" name="c3_2"/>
          <p:cNvSpPr txBox="1"/>
          <p:nvPr/>
        </p:nvSpPr>
        <p:spPr>
          <a:xfrm>
            <a:off x="7600000" y="3380000"/>
            <a:ext cx="21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3A712"/>
                </a:solidFill>
                <a:latin typeface="Segoe UI"/>
              </a:rPr>
              <a:t>3.74</a:t>
            </a:r>
          </a:p>
        </p:txBody>
      </p:sp>
      <p:sp>
        <p:nvSpPr>
          <p:cNvPr id="29" name="c3_3"/>
          <p:cNvSpPr txBox="1"/>
          <p:nvPr/>
        </p:nvSpPr>
        <p:spPr>
          <a:xfrm>
            <a:off x="9700000" y="3380000"/>
            <a:ext cx="20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1D2433"/>
                </a:solidFill>
                <a:latin typeface="Segoe UI"/>
              </a:rPr>
              <a:t>42.9%</a:t>
            </a:r>
          </a:p>
        </p:txBody>
      </p:sp>
      <p:sp>
        <p:nvSpPr>
          <p:cNvPr id="30" name="rowbg4"/>
          <p:cNvSpPr/>
          <p:nvPr/>
        </p:nvSpPr>
        <p:spPr>
          <a:xfrm>
            <a:off x="760000" y="3770000"/>
            <a:ext cx="10672000" cy="430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/>
          <a:p/>
        </p:txBody>
      </p:sp>
      <p:sp>
        <p:nvSpPr>
          <p:cNvPr id="31" name="c4_0"/>
          <p:cNvSpPr txBox="1"/>
          <p:nvPr/>
        </p:nvSpPr>
        <p:spPr>
          <a:xfrm>
            <a:off x="838200" y="3810000"/>
            <a:ext cx="51618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2433"/>
                </a:solidFill>
                <a:latin typeface="Segoe UI"/>
              </a:rPr>
              <a:t>Internal Engineering &amp; Planning</a:t>
            </a:r>
          </a:p>
        </p:txBody>
      </p:sp>
      <p:sp>
        <p:nvSpPr>
          <p:cNvPr id="32" name="c4_1"/>
          <p:cNvSpPr txBox="1"/>
          <p:nvPr/>
        </p:nvSpPr>
        <p:spPr>
          <a:xfrm>
            <a:off x="6000000" y="3810000"/>
            <a:ext cx="16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1D2433"/>
                </a:solidFill>
                <a:latin typeface="Segoe UI"/>
              </a:rPr>
              <a:t>11</a:t>
            </a:r>
          </a:p>
        </p:txBody>
      </p:sp>
      <p:sp>
        <p:nvSpPr>
          <p:cNvPr id="33" name="c4_2"/>
          <p:cNvSpPr txBox="1"/>
          <p:nvPr/>
        </p:nvSpPr>
        <p:spPr>
          <a:xfrm>
            <a:off x="7600000" y="3810000"/>
            <a:ext cx="21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F9E44"/>
                </a:solidFill>
                <a:latin typeface="Segoe UI"/>
              </a:rPr>
              <a:t>4.01</a:t>
            </a:r>
          </a:p>
        </p:txBody>
      </p:sp>
      <p:sp>
        <p:nvSpPr>
          <p:cNvPr id="34" name="c4_3"/>
          <p:cNvSpPr txBox="1"/>
          <p:nvPr/>
        </p:nvSpPr>
        <p:spPr>
          <a:xfrm>
            <a:off x="9700000" y="3810000"/>
            <a:ext cx="20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1D2433"/>
                </a:solidFill>
                <a:latin typeface="Segoe UI"/>
              </a:rPr>
              <a:t>9.1%</a:t>
            </a:r>
          </a:p>
        </p:txBody>
      </p:sp>
      <p:sp>
        <p:nvSpPr>
          <p:cNvPr id="35" name="rowbg5"/>
          <p:cNvSpPr/>
          <p:nvPr/>
        </p:nvSpPr>
        <p:spPr>
          <a:xfrm>
            <a:off x="760000" y="4200000"/>
            <a:ext cx="10672000" cy="4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6" name="c5_0"/>
          <p:cNvSpPr txBox="1"/>
          <p:nvPr/>
        </p:nvSpPr>
        <p:spPr>
          <a:xfrm>
            <a:off x="838200" y="4240000"/>
            <a:ext cx="51618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2433"/>
                </a:solidFill>
                <a:latin typeface="Segoe UI"/>
              </a:rPr>
              <a:t>Product Roadmap &amp; Feature Requests</a:t>
            </a:r>
          </a:p>
        </p:txBody>
      </p:sp>
      <p:sp>
        <p:nvSpPr>
          <p:cNvPr id="37" name="c5_1"/>
          <p:cNvSpPr txBox="1"/>
          <p:nvPr/>
        </p:nvSpPr>
        <p:spPr>
          <a:xfrm>
            <a:off x="6000000" y="4240000"/>
            <a:ext cx="16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1D2433"/>
                </a:solidFill>
                <a:latin typeface="Segoe UI"/>
              </a:rPr>
              <a:t>9</a:t>
            </a:r>
          </a:p>
        </p:txBody>
      </p:sp>
      <p:sp>
        <p:nvSpPr>
          <p:cNvPr id="38" name="c5_2"/>
          <p:cNvSpPr txBox="1"/>
          <p:nvPr/>
        </p:nvSpPr>
        <p:spPr>
          <a:xfrm>
            <a:off x="7600000" y="4240000"/>
            <a:ext cx="21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3A712"/>
                </a:solidFill>
                <a:latin typeface="Segoe UI"/>
              </a:rPr>
              <a:t>3.71</a:t>
            </a:r>
          </a:p>
        </p:txBody>
      </p:sp>
      <p:sp>
        <p:nvSpPr>
          <p:cNvPr id="39" name="c5_3"/>
          <p:cNvSpPr txBox="1"/>
          <p:nvPr/>
        </p:nvSpPr>
        <p:spPr>
          <a:xfrm>
            <a:off x="9700000" y="4240000"/>
            <a:ext cx="20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1D2433"/>
                </a:solidFill>
                <a:latin typeface="Segoe UI"/>
              </a:rPr>
              <a:t>55.6%</a:t>
            </a:r>
          </a:p>
        </p:txBody>
      </p:sp>
      <p:sp>
        <p:nvSpPr>
          <p:cNvPr id="40" name="rowbg6"/>
          <p:cNvSpPr/>
          <p:nvPr/>
        </p:nvSpPr>
        <p:spPr>
          <a:xfrm>
            <a:off x="760000" y="4630000"/>
            <a:ext cx="10672000" cy="430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/>
          <a:p/>
        </p:txBody>
      </p:sp>
      <p:sp>
        <p:nvSpPr>
          <p:cNvPr id="41" name="c6_0"/>
          <p:cNvSpPr txBox="1"/>
          <p:nvPr/>
        </p:nvSpPr>
        <p:spPr>
          <a:xfrm>
            <a:off x="838200" y="4670000"/>
            <a:ext cx="51618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2433"/>
                </a:solidFill>
                <a:latin typeface="Segoe UI"/>
              </a:rPr>
              <a:t>Onboarding &amp; Deployment</a:t>
            </a:r>
          </a:p>
        </p:txBody>
      </p:sp>
      <p:sp>
        <p:nvSpPr>
          <p:cNvPr id="42" name="c6_1"/>
          <p:cNvSpPr txBox="1"/>
          <p:nvPr/>
        </p:nvSpPr>
        <p:spPr>
          <a:xfrm>
            <a:off x="6000000" y="4670000"/>
            <a:ext cx="16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1D2433"/>
                </a:solidFill>
                <a:latin typeface="Segoe UI"/>
              </a:rPr>
              <a:t>6</a:t>
            </a:r>
          </a:p>
        </p:txBody>
      </p:sp>
      <p:sp>
        <p:nvSpPr>
          <p:cNvPr id="43" name="c6_2"/>
          <p:cNvSpPr txBox="1"/>
          <p:nvPr/>
        </p:nvSpPr>
        <p:spPr>
          <a:xfrm>
            <a:off x="7600000" y="4670000"/>
            <a:ext cx="21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F9E44"/>
                </a:solidFill>
                <a:latin typeface="Segoe UI"/>
              </a:rPr>
              <a:t>4.67</a:t>
            </a:r>
          </a:p>
        </p:txBody>
      </p:sp>
      <p:sp>
        <p:nvSpPr>
          <p:cNvPr id="44" name="c6_3"/>
          <p:cNvSpPr txBox="1"/>
          <p:nvPr/>
        </p:nvSpPr>
        <p:spPr>
          <a:xfrm>
            <a:off x="9700000" y="4670000"/>
            <a:ext cx="20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1D2433"/>
                </a:solidFill>
                <a:latin typeface="Segoe UI"/>
              </a:rPr>
              <a:t>16.7%</a:t>
            </a:r>
          </a:p>
        </p:txBody>
      </p:sp>
      <p:sp>
        <p:nvSpPr>
          <p:cNvPr id="45" name="rowbg7"/>
          <p:cNvSpPr/>
          <p:nvPr/>
        </p:nvSpPr>
        <p:spPr>
          <a:xfrm>
            <a:off x="760000" y="5060000"/>
            <a:ext cx="10672000" cy="4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46" name="c7_0"/>
          <p:cNvSpPr txBox="1"/>
          <p:nvPr/>
        </p:nvSpPr>
        <p:spPr>
          <a:xfrm>
            <a:off x="838200" y="5100000"/>
            <a:ext cx="51618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2433"/>
                </a:solidFill>
                <a:latin typeface="Segoe UI"/>
              </a:rPr>
              <a:t>Competitive &amp; Win/Loss</a:t>
            </a:r>
          </a:p>
        </p:txBody>
      </p:sp>
      <p:sp>
        <p:nvSpPr>
          <p:cNvPr id="47" name="c7_1"/>
          <p:cNvSpPr txBox="1"/>
          <p:nvPr/>
        </p:nvSpPr>
        <p:spPr>
          <a:xfrm>
            <a:off x="6000000" y="5100000"/>
            <a:ext cx="16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1D2433"/>
                </a:solidFill>
                <a:latin typeface="Segoe UI"/>
              </a:rPr>
              <a:t>5</a:t>
            </a:r>
          </a:p>
        </p:txBody>
      </p:sp>
      <p:sp>
        <p:nvSpPr>
          <p:cNvPr id="48" name="c7_2"/>
          <p:cNvSpPr txBox="1"/>
          <p:nvPr/>
        </p:nvSpPr>
        <p:spPr>
          <a:xfrm>
            <a:off x="7600000" y="5100000"/>
            <a:ext cx="21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4572E"/>
                </a:solidFill>
                <a:latin typeface="Segoe UI"/>
              </a:rPr>
              <a:t>2.92</a:t>
            </a:r>
          </a:p>
        </p:txBody>
      </p:sp>
      <p:sp>
        <p:nvSpPr>
          <p:cNvPr id="49" name="c7_3"/>
          <p:cNvSpPr txBox="1"/>
          <p:nvPr/>
        </p:nvSpPr>
        <p:spPr>
          <a:xfrm>
            <a:off x="9700000" y="5100000"/>
            <a:ext cx="20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1D2433"/>
                </a:solidFill>
                <a:latin typeface="Segoe UI"/>
              </a:rPr>
              <a:t>80.0%</a:t>
            </a:r>
          </a:p>
        </p:txBody>
      </p:sp>
      <p:sp>
        <p:nvSpPr>
          <p:cNvPr id="50" name="rowbg8"/>
          <p:cNvSpPr/>
          <p:nvPr/>
        </p:nvSpPr>
        <p:spPr>
          <a:xfrm>
            <a:off x="760000" y="5490000"/>
            <a:ext cx="10672000" cy="430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/>
          <a:p/>
        </p:txBody>
      </p:sp>
      <p:sp>
        <p:nvSpPr>
          <p:cNvPr id="51" name="c8_0"/>
          <p:cNvSpPr txBox="1"/>
          <p:nvPr/>
        </p:nvSpPr>
        <p:spPr>
          <a:xfrm>
            <a:off x="838200" y="5530000"/>
            <a:ext cx="51618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2433"/>
                </a:solidFill>
                <a:latin typeface="Segoe UI"/>
              </a:rPr>
              <a:t>Pricing &amp; Billing</a:t>
            </a:r>
          </a:p>
        </p:txBody>
      </p:sp>
      <p:sp>
        <p:nvSpPr>
          <p:cNvPr id="52" name="c8_1"/>
          <p:cNvSpPr txBox="1"/>
          <p:nvPr/>
        </p:nvSpPr>
        <p:spPr>
          <a:xfrm>
            <a:off x="6000000" y="5530000"/>
            <a:ext cx="16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1D2433"/>
                </a:solidFill>
                <a:latin typeface="Segoe UI"/>
              </a:rPr>
              <a:t>4</a:t>
            </a:r>
          </a:p>
        </p:txBody>
      </p:sp>
      <p:sp>
        <p:nvSpPr>
          <p:cNvPr id="53" name="c8_2"/>
          <p:cNvSpPr txBox="1"/>
          <p:nvPr/>
        </p:nvSpPr>
        <p:spPr>
          <a:xfrm>
            <a:off x="7600000" y="5530000"/>
            <a:ext cx="21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3A712"/>
                </a:solidFill>
                <a:latin typeface="Segoe UI"/>
              </a:rPr>
              <a:t>3.45</a:t>
            </a:r>
          </a:p>
        </p:txBody>
      </p:sp>
      <p:sp>
        <p:nvSpPr>
          <p:cNvPr id="54" name="c8_3"/>
          <p:cNvSpPr txBox="1"/>
          <p:nvPr/>
        </p:nvSpPr>
        <p:spPr>
          <a:xfrm>
            <a:off x="9700000" y="5530000"/>
            <a:ext cx="20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1D2433"/>
                </a:solidFill>
                <a:latin typeface="Segoe UI"/>
              </a:rPr>
              <a:t>25.0%</a:t>
            </a:r>
          </a:p>
        </p:txBody>
      </p:sp>
      <p:sp>
        <p:nvSpPr>
          <p:cNvPr id="55" name="note"/>
          <p:cNvSpPr txBox="1"/>
          <p:nvPr/>
        </p:nvSpPr>
        <p:spPr>
          <a:xfrm>
            <a:off x="838200" y="6080000"/>
            <a:ext cx="10515600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B7280"/>
                </a:solidFill>
                <a:latin typeface="Segoe UI"/>
              </a:rPr>
              <a:t>Bar/score colour: red &lt;3, amber &lt;3.8, green &gt;=3.8. Compliance &amp; Onboarding are healthy; Outage &amp; Product-Bug are the pain centres.</a:t>
            </a:r>
          </a:p>
        </p:txBody>
      </p:sp>
      <p:sp>
        <p:nvSpPr>
          <p:cNvPr id="56" name="footer"/>
          <p:cNvSpPr txBox="1"/>
          <p:nvPr/>
        </p:nvSpPr>
        <p:spPr>
          <a:xfrm>
            <a:off x="838200" y="6500000"/>
            <a:ext cx="105156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Segoe UI"/>
              </a:rPr>
              <a:t>Transcript Intelligence  -  Take-Home Assignment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2000" cy="1280000"/>
          </a:xfrm>
          <a:prstGeom prst="rect">
            <a:avLst/>
          </a:prstGeom>
          <a:solidFill>
            <a:srgbClr val="2B3A67"/>
          </a:solidFill>
          <a:ln>
            <a:noFill/>
          </a:ln>
        </p:spPr>
        <p:txBody>
          <a:bodyPr/>
          <a:p/>
        </p:txBody>
      </p:sp>
      <p:sp>
        <p:nvSpPr>
          <p:cNvPr id="3" name="accentline"/>
          <p:cNvSpPr/>
          <p:nvPr/>
        </p:nvSpPr>
        <p:spPr>
          <a:xfrm>
            <a:off x="0" y="1280000"/>
            <a:ext cx="12192000" cy="36000"/>
          </a:xfrm>
          <a:prstGeom prst="rect">
            <a:avLst/>
          </a:prstGeom>
          <a:solidFill>
            <a:srgbClr val="F3A712"/>
          </a:solidFill>
          <a:ln>
            <a:noFill/>
          </a:ln>
        </p:spPr>
        <p:txBody>
          <a:bodyPr/>
          <a:p/>
        </p:txBody>
      </p:sp>
      <p:sp>
        <p:nvSpPr>
          <p:cNvPr id="4" name="eyebrow"/>
          <p:cNvSpPr txBox="1"/>
          <p:nvPr/>
        </p:nvSpPr>
        <p:spPr>
          <a:xfrm>
            <a:off x="838200" y="300000"/>
            <a:ext cx="105156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3A712"/>
                </a:solidFill>
                <a:latin typeface="Segoe UI"/>
              </a:rPr>
              <a:t>TASK 1 · EVIDENCE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838200" y="620000"/>
            <a:ext cx="10515600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Segoe UI"/>
              </a:rPr>
              <a:t>Examples per category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838200" y="1560000"/>
            <a:ext cx="105156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274320" indent="-274320" algn="l">
              <a:spcAft>
                <a:spcPts val="500"/>
              </a:spcAft>
              <a:buChar char="•"/>
            </a:pPr>
            <a:r>
              <a:rPr lang="en-US" sz="1450" dirty="0">
                <a:solidFill>
                  <a:srgbClr val="1D2433"/>
                </a:solidFill>
                <a:latin typeface="Segoe UI"/>
              </a:rPr>
              <a:t>Outage &amp; Incident Response — 'Detect Outage - Remediation Plan Review', 'INCIDENT: Detect Pipeline Failure - War Room'</a:t>
            </a:r>
          </a:p>
          <a:p>
            <a:pPr marL="274320" indent="-274320" algn="l">
              <a:spcAft>
                <a:spcPts val="500"/>
              </a:spcAft>
              <a:buChar char="•"/>
            </a:pPr>
            <a:r>
              <a:rPr lang="en-US" sz="1450" dirty="0">
                <a:solidFill>
                  <a:srgbClr val="1D2433"/>
                </a:solidFill>
                <a:latin typeface="Segoe UI"/>
              </a:rPr>
              <a:t>Compliance &amp; Audit — 'Aegis / Redwood Clinical - ISO 27001 Preparation', 'SOC 2 Type II - Final Review'</a:t>
            </a:r>
          </a:p>
          <a:p>
            <a:pPr marL="274320" indent="-274320" algn="l">
              <a:spcAft>
                <a:spcPts val="500"/>
              </a:spcAft>
              <a:buChar char="•"/>
            </a:pPr>
            <a:r>
              <a:rPr lang="en-US" sz="1450" dirty="0">
                <a:solidFill>
                  <a:srgbClr val="1D2433"/>
                </a:solidFill>
                <a:latin typeface="Segoe UI"/>
              </a:rPr>
              <a:t>Product Bug &amp; Tech Support — 'Support Case #5889 - Ridgeline Logistics Detect Latency Issues'</a:t>
            </a:r>
          </a:p>
          <a:p>
            <a:pPr marL="274320" indent="-274320" algn="l">
              <a:spcAft>
                <a:spcPts val="500"/>
              </a:spcAft>
              <a:buChar char="•"/>
            </a:pPr>
            <a:r>
              <a:rPr lang="en-US" sz="1450" dirty="0">
                <a:solidFill>
                  <a:srgbClr val="1D2433"/>
                </a:solidFill>
                <a:latin typeface="Segoe UI"/>
              </a:rPr>
              <a:t>Renewal &amp; Churn Risk — 'Aegis / Quantum Edge - Renewal Concerns', 'Aegis / Nova Retail Group - Renewal Discussion'</a:t>
            </a:r>
          </a:p>
          <a:p>
            <a:pPr marL="274320" indent="-274320" algn="l">
              <a:spcAft>
                <a:spcPts val="500"/>
              </a:spcAft>
              <a:buChar char="•"/>
            </a:pPr>
            <a:r>
              <a:rPr lang="en-US" sz="1450" dirty="0">
                <a:solidFill>
                  <a:srgbClr val="1D2433"/>
                </a:solidFill>
                <a:latin typeface="Segoe UI"/>
              </a:rPr>
              <a:t>Onboarding &amp; Deployment — 'Aegis / Clearwater Medical - Comply v2 Deployment Kickoff'</a:t>
            </a:r>
          </a:p>
          <a:p>
            <a:pPr marL="274320" indent="-274320" algn="l">
              <a:spcAft>
                <a:spcPts val="500"/>
              </a:spcAft>
              <a:buChar char="•"/>
            </a:pPr>
            <a:r>
              <a:rPr lang="en-US" sz="1450" dirty="0">
                <a:solidFill>
                  <a:srgbClr val="1D2433"/>
                </a:solidFill>
                <a:latin typeface="Segoe UI"/>
              </a:rPr>
              <a:t>Competitive &amp; Win/Loss — 'Win/Loss Analysis - Q1', 'Aegis / Ironworks Corp - Vendor Comparison'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838200" y="6500000"/>
            <a:ext cx="105156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Segoe UI"/>
              </a:rPr>
              <a:t>Transcript Intelligence  -  Take-Home Assignment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433"/>
          </a:solidFill>
          <a:ln>
            <a:noFill/>
          </a:ln>
        </p:spPr>
        <p:txBody>
          <a:bodyPr/>
          <a:p/>
        </p:txBody>
      </p:sp>
      <p:sp>
        <p:nvSpPr>
          <p:cNvPr id="3" name="band"/>
          <p:cNvSpPr/>
          <p:nvPr/>
        </p:nvSpPr>
        <p:spPr>
          <a:xfrm>
            <a:off x="0" y="2750000"/>
            <a:ext cx="220000" cy="1350000"/>
          </a:xfrm>
          <a:prstGeom prst="rect">
            <a:avLst/>
          </a:prstGeom>
          <a:solidFill>
            <a:srgbClr val="F3A712"/>
          </a:solidFill>
          <a:ln>
            <a:noFill/>
          </a:ln>
        </p:spPr>
        <p:txBody>
          <a:bodyPr/>
          <a:p/>
        </p:txBody>
      </p:sp>
      <p:sp>
        <p:nvSpPr>
          <p:cNvPr id="4" name="num"/>
          <p:cNvSpPr txBox="1"/>
          <p:nvPr/>
        </p:nvSpPr>
        <p:spPr>
          <a:xfrm>
            <a:off x="838200" y="2500000"/>
            <a:ext cx="10515600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3A712"/>
                </a:solidFill>
                <a:latin typeface="Segoe UI"/>
              </a:rPr>
              <a:t>TASK 2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838200" y="3000000"/>
            <a:ext cx="10515600" cy="11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Segoe UI"/>
              </a:rPr>
              <a:t>Sentiment Across Call Types</a:t>
            </a:r>
          </a:p>
        </p:txBody>
      </p:sp>
      <p:sp>
        <p:nvSpPr>
          <p:cNvPr id="6" name="sub"/>
          <p:cNvSpPr txBox="1"/>
          <p:nvPr/>
        </p:nvSpPr>
        <p:spPr>
          <a:xfrm>
            <a:off x="838200" y="4150000"/>
            <a:ext cx="105156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700" dirty="0">
                <a:solidFill>
                  <a:srgbClr val="C3CBE0"/>
                </a:solidFill>
                <a:latin typeface="Segoe UI"/>
              </a:rPr>
              <a:t>Not just charts — what the trend means and why to care.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2000" cy="128000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p/>
        </p:txBody>
      </p:sp>
      <p:sp>
        <p:nvSpPr>
          <p:cNvPr id="3" name="accentline"/>
          <p:cNvSpPr/>
          <p:nvPr/>
        </p:nvSpPr>
        <p:spPr>
          <a:xfrm>
            <a:off x="0" y="1280000"/>
            <a:ext cx="12192000" cy="36000"/>
          </a:xfrm>
          <a:prstGeom prst="rect">
            <a:avLst/>
          </a:prstGeom>
          <a:solidFill>
            <a:srgbClr val="F3A712"/>
          </a:solidFill>
          <a:ln>
            <a:noFill/>
          </a:ln>
        </p:spPr>
        <p:txBody>
          <a:bodyPr/>
          <a:p/>
        </p:txBody>
      </p:sp>
      <p:sp>
        <p:nvSpPr>
          <p:cNvPr id="4" name="eyebrow"/>
          <p:cNvSpPr txBox="1"/>
          <p:nvPr/>
        </p:nvSpPr>
        <p:spPr>
          <a:xfrm>
            <a:off x="838200" y="300000"/>
            <a:ext cx="105156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3A712"/>
                </a:solidFill>
                <a:latin typeface="Segoe UI"/>
              </a:rPr>
              <a:t>TASK 2 · RESULTS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838200" y="620000"/>
            <a:ext cx="10515600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Segoe UI"/>
              </a:rPr>
              <a:t>Support calls are the emotional low point</a:t>
            </a:r>
          </a:p>
        </p:txBody>
      </p:sp>
      <p:sp>
        <p:nvSpPr>
          <p:cNvPr id="6" name="h0"/>
          <p:cNvSpPr txBox="1"/>
          <p:nvPr/>
        </p:nvSpPr>
        <p:spPr>
          <a:xfrm>
            <a:off x="838200" y="1620000"/>
            <a:ext cx="33618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6B7280"/>
                </a:solidFill>
                <a:latin typeface="Segoe UI"/>
              </a:rPr>
              <a:t>Call type</a:t>
            </a:r>
          </a:p>
        </p:txBody>
      </p:sp>
      <p:sp>
        <p:nvSpPr>
          <p:cNvPr id="7" name="h1"/>
          <p:cNvSpPr txBox="1"/>
          <p:nvPr/>
        </p:nvSpPr>
        <p:spPr>
          <a:xfrm>
            <a:off x="4200000" y="1620000"/>
            <a:ext cx="150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6B7280"/>
                </a:solidFill>
                <a:latin typeface="Segoe UI"/>
              </a:rPr>
              <a:t>Calls</a:t>
            </a:r>
          </a:p>
        </p:txBody>
      </p:sp>
      <p:sp>
        <p:nvSpPr>
          <p:cNvPr id="8" name="h2"/>
          <p:cNvSpPr txBox="1"/>
          <p:nvPr/>
        </p:nvSpPr>
        <p:spPr>
          <a:xfrm>
            <a:off x="5700000" y="1620000"/>
            <a:ext cx="230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6B7280"/>
                </a:solidFill>
                <a:latin typeface="Segoe UI"/>
              </a:rPr>
              <a:t>Avg sentiment</a:t>
            </a:r>
          </a:p>
        </p:txBody>
      </p:sp>
      <p:sp>
        <p:nvSpPr>
          <p:cNvPr id="9" name="h3"/>
          <p:cNvSpPr txBox="1"/>
          <p:nvPr/>
        </p:nvSpPr>
        <p:spPr>
          <a:xfrm>
            <a:off x="8000000" y="1620000"/>
            <a:ext cx="210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6B7280"/>
                </a:solidFill>
                <a:latin typeface="Segoe UI"/>
              </a:rPr>
              <a:t>Negativity ratio</a:t>
            </a:r>
          </a:p>
        </p:txBody>
      </p:sp>
      <p:sp>
        <p:nvSpPr>
          <p:cNvPr id="10" name="h4"/>
          <p:cNvSpPr txBox="1"/>
          <p:nvPr/>
        </p:nvSpPr>
        <p:spPr>
          <a:xfrm>
            <a:off x="10100000" y="1620000"/>
            <a:ext cx="200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6B7280"/>
                </a:solidFill>
                <a:latin typeface="Segoe UI"/>
              </a:rPr>
              <a:t>% w/ churn signal</a:t>
            </a:r>
          </a:p>
        </p:txBody>
      </p:sp>
      <p:sp>
        <p:nvSpPr>
          <p:cNvPr id="11" name="rowbg0"/>
          <p:cNvSpPr/>
          <p:nvPr/>
        </p:nvSpPr>
        <p:spPr>
          <a:xfrm>
            <a:off x="760000" y="2050000"/>
            <a:ext cx="10672000" cy="430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/>
          <a:p/>
        </p:txBody>
      </p:sp>
      <p:sp>
        <p:nvSpPr>
          <p:cNvPr id="12" name="c0_0"/>
          <p:cNvSpPr txBox="1"/>
          <p:nvPr/>
        </p:nvSpPr>
        <p:spPr>
          <a:xfrm>
            <a:off x="838200" y="2090000"/>
            <a:ext cx="33618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2433"/>
                </a:solidFill>
                <a:latin typeface="Segoe UI"/>
              </a:rPr>
              <a:t>Support</a:t>
            </a:r>
          </a:p>
        </p:txBody>
      </p:sp>
      <p:sp>
        <p:nvSpPr>
          <p:cNvPr id="13" name="c0_1"/>
          <p:cNvSpPr txBox="1"/>
          <p:nvPr/>
        </p:nvSpPr>
        <p:spPr>
          <a:xfrm>
            <a:off x="4200000" y="2090000"/>
            <a:ext cx="15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1D2433"/>
                </a:solidFill>
                <a:latin typeface="Segoe UI"/>
              </a:rPr>
              <a:t>27</a:t>
            </a:r>
          </a:p>
        </p:txBody>
      </p:sp>
      <p:sp>
        <p:nvSpPr>
          <p:cNvPr id="14" name="c0_2"/>
          <p:cNvSpPr txBox="1"/>
          <p:nvPr/>
        </p:nvSpPr>
        <p:spPr>
          <a:xfrm>
            <a:off x="5700000" y="2090000"/>
            <a:ext cx="23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4572E"/>
                </a:solidFill>
                <a:latin typeface="Segoe UI"/>
              </a:rPr>
              <a:t>2.94 / 5</a:t>
            </a:r>
          </a:p>
        </p:txBody>
      </p:sp>
      <p:sp>
        <p:nvSpPr>
          <p:cNvPr id="15" name="c0_3"/>
          <p:cNvSpPr txBox="1"/>
          <p:nvPr/>
        </p:nvSpPr>
        <p:spPr>
          <a:xfrm>
            <a:off x="8000000" y="2090000"/>
            <a:ext cx="21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1D2433"/>
                </a:solidFill>
                <a:latin typeface="Segoe UI"/>
              </a:rPr>
              <a:t>0.23</a:t>
            </a:r>
          </a:p>
        </p:txBody>
      </p:sp>
      <p:sp>
        <p:nvSpPr>
          <p:cNvPr id="16" name="c0_4"/>
          <p:cNvSpPr txBox="1"/>
          <p:nvPr/>
        </p:nvSpPr>
        <p:spPr>
          <a:xfrm>
            <a:off x="10100000" y="2090000"/>
            <a:ext cx="20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E4572E"/>
                </a:solidFill>
                <a:latin typeface="Segoe UI"/>
              </a:rPr>
              <a:t>70.4%</a:t>
            </a:r>
          </a:p>
        </p:txBody>
      </p:sp>
      <p:sp>
        <p:nvSpPr>
          <p:cNvPr id="17" name="rowbg1"/>
          <p:cNvSpPr/>
          <p:nvPr/>
        </p:nvSpPr>
        <p:spPr>
          <a:xfrm>
            <a:off x="760000" y="2480000"/>
            <a:ext cx="10672000" cy="4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18" name="c1_0"/>
          <p:cNvSpPr txBox="1"/>
          <p:nvPr/>
        </p:nvSpPr>
        <p:spPr>
          <a:xfrm>
            <a:off x="838200" y="2520000"/>
            <a:ext cx="33618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2433"/>
                </a:solidFill>
                <a:latin typeface="Segoe UI"/>
              </a:rPr>
              <a:t>Internal</a:t>
            </a:r>
          </a:p>
        </p:txBody>
      </p:sp>
      <p:sp>
        <p:nvSpPr>
          <p:cNvPr id="19" name="c1_1"/>
          <p:cNvSpPr txBox="1"/>
          <p:nvPr/>
        </p:nvSpPr>
        <p:spPr>
          <a:xfrm>
            <a:off x="4200000" y="2520000"/>
            <a:ext cx="15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1D2433"/>
                </a:solidFill>
                <a:latin typeface="Segoe UI"/>
              </a:rPr>
              <a:t>30</a:t>
            </a:r>
          </a:p>
        </p:txBody>
      </p:sp>
      <p:sp>
        <p:nvSpPr>
          <p:cNvPr id="20" name="c1_2"/>
          <p:cNvSpPr txBox="1"/>
          <p:nvPr/>
        </p:nvSpPr>
        <p:spPr>
          <a:xfrm>
            <a:off x="5700000" y="2520000"/>
            <a:ext cx="23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3A712"/>
                </a:solidFill>
                <a:latin typeface="Segoe UI"/>
              </a:rPr>
              <a:t>3.42 / 5</a:t>
            </a:r>
          </a:p>
        </p:txBody>
      </p:sp>
      <p:sp>
        <p:nvSpPr>
          <p:cNvPr id="21" name="c1_3"/>
          <p:cNvSpPr txBox="1"/>
          <p:nvPr/>
        </p:nvSpPr>
        <p:spPr>
          <a:xfrm>
            <a:off x="8000000" y="2520000"/>
            <a:ext cx="21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1D2433"/>
                </a:solidFill>
                <a:latin typeface="Segoe UI"/>
              </a:rPr>
              <a:t>0.17</a:t>
            </a:r>
          </a:p>
        </p:txBody>
      </p:sp>
      <p:sp>
        <p:nvSpPr>
          <p:cNvPr id="22" name="c1_4"/>
          <p:cNvSpPr txBox="1"/>
          <p:nvPr/>
        </p:nvSpPr>
        <p:spPr>
          <a:xfrm>
            <a:off x="10100000" y="2520000"/>
            <a:ext cx="20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1D2433"/>
                </a:solidFill>
                <a:latin typeface="Segoe UI"/>
              </a:rPr>
              <a:t>40.0%</a:t>
            </a:r>
          </a:p>
        </p:txBody>
      </p:sp>
      <p:sp>
        <p:nvSpPr>
          <p:cNvPr id="23" name="rowbg2"/>
          <p:cNvSpPr/>
          <p:nvPr/>
        </p:nvSpPr>
        <p:spPr>
          <a:xfrm>
            <a:off x="760000" y="2910000"/>
            <a:ext cx="10672000" cy="430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/>
          <a:p/>
        </p:txBody>
      </p:sp>
      <p:sp>
        <p:nvSpPr>
          <p:cNvPr id="24" name="c2_0"/>
          <p:cNvSpPr txBox="1"/>
          <p:nvPr/>
        </p:nvSpPr>
        <p:spPr>
          <a:xfrm>
            <a:off x="838200" y="2950000"/>
            <a:ext cx="33618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2433"/>
                </a:solidFill>
                <a:latin typeface="Segoe UI"/>
              </a:rPr>
              <a:t>External</a:t>
            </a:r>
          </a:p>
        </p:txBody>
      </p:sp>
      <p:sp>
        <p:nvSpPr>
          <p:cNvPr id="25" name="c2_1"/>
          <p:cNvSpPr txBox="1"/>
          <p:nvPr/>
        </p:nvSpPr>
        <p:spPr>
          <a:xfrm>
            <a:off x="4200000" y="2950000"/>
            <a:ext cx="15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1D2433"/>
                </a:solidFill>
                <a:latin typeface="Segoe UI"/>
              </a:rPr>
              <a:t>43</a:t>
            </a:r>
          </a:p>
        </p:txBody>
      </p:sp>
      <p:sp>
        <p:nvSpPr>
          <p:cNvPr id="26" name="c2_2"/>
          <p:cNvSpPr txBox="1"/>
          <p:nvPr/>
        </p:nvSpPr>
        <p:spPr>
          <a:xfrm>
            <a:off x="5700000" y="2950000"/>
            <a:ext cx="23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3A712"/>
                </a:solidFill>
                <a:latin typeface="Segoe UI"/>
              </a:rPr>
              <a:t>3.71 / 5</a:t>
            </a:r>
          </a:p>
        </p:txBody>
      </p:sp>
      <p:sp>
        <p:nvSpPr>
          <p:cNvPr id="27" name="c2_3"/>
          <p:cNvSpPr txBox="1"/>
          <p:nvPr/>
        </p:nvSpPr>
        <p:spPr>
          <a:xfrm>
            <a:off x="8000000" y="2950000"/>
            <a:ext cx="21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1D2433"/>
                </a:solidFill>
                <a:latin typeface="Segoe UI"/>
              </a:rPr>
              <a:t>0.14</a:t>
            </a:r>
          </a:p>
        </p:txBody>
      </p:sp>
      <p:sp>
        <p:nvSpPr>
          <p:cNvPr id="28" name="c2_4"/>
          <p:cNvSpPr txBox="1"/>
          <p:nvPr/>
        </p:nvSpPr>
        <p:spPr>
          <a:xfrm>
            <a:off x="10100000" y="2950000"/>
            <a:ext cx="20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1D2433"/>
                </a:solidFill>
                <a:latin typeface="Segoe UI"/>
              </a:rPr>
              <a:t>48.8%</a:t>
            </a:r>
          </a:p>
        </p:txBody>
      </p:sp>
      <p:sp>
        <p:nvSpPr>
          <p:cNvPr id="29" name="note"/>
          <p:cNvSpPr txBox="1"/>
          <p:nvPr/>
        </p:nvSpPr>
        <p:spPr>
          <a:xfrm>
            <a:off x="838200" y="3500000"/>
            <a:ext cx="10515600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B7280"/>
                </a:solidFill>
                <a:latin typeface="Segoe UI"/>
              </a:rPr>
              <a:t>Support 2.94/5 with a churn signal in 70% of calls; external highest at 3.71. The gap tells leadership WHERE the customer pain concentrates.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838200" y="6500000"/>
            <a:ext cx="105156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Segoe UI"/>
              </a:rPr>
              <a:t>Transcript Intelligence  -  Take-Home Assignment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2000" cy="1280000"/>
          </a:xfrm>
          <a:prstGeom prst="rect">
            <a:avLst/>
          </a:prstGeom>
          <a:solidFill>
            <a:srgbClr val="2B3A67"/>
          </a:solidFill>
          <a:ln>
            <a:noFill/>
          </a:ln>
        </p:spPr>
        <p:txBody>
          <a:bodyPr/>
          <a:p/>
        </p:txBody>
      </p:sp>
      <p:sp>
        <p:nvSpPr>
          <p:cNvPr id="3" name="accentline"/>
          <p:cNvSpPr/>
          <p:nvPr/>
        </p:nvSpPr>
        <p:spPr>
          <a:xfrm>
            <a:off x="0" y="1280000"/>
            <a:ext cx="12192000" cy="36000"/>
          </a:xfrm>
          <a:prstGeom prst="rect">
            <a:avLst/>
          </a:prstGeom>
          <a:solidFill>
            <a:srgbClr val="F3A712"/>
          </a:solidFill>
          <a:ln>
            <a:noFill/>
          </a:ln>
        </p:spPr>
        <p:txBody>
          <a:bodyPr/>
          <a:p/>
        </p:txBody>
      </p:sp>
      <p:sp>
        <p:nvSpPr>
          <p:cNvPr id="4" name="eyebrow"/>
          <p:cNvSpPr txBox="1"/>
          <p:nvPr/>
        </p:nvSpPr>
        <p:spPr>
          <a:xfrm>
            <a:off x="838200" y="300000"/>
            <a:ext cx="105156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3A712"/>
                </a:solidFill>
                <a:latin typeface="Segoe UI"/>
              </a:rPr>
              <a:t>TASK 2 · INSIGHT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838200" y="620000"/>
            <a:ext cx="10515600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Segoe UI"/>
              </a:rPr>
              <a:t>What the trend means — and why care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838200" y="1560000"/>
            <a:ext cx="105156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274320" indent="-274320" algn="l">
              <a:spcAft>
                <a:spcPts val="500"/>
              </a:spcAft>
              <a:buChar char="•"/>
            </a:pPr>
            <a:r>
              <a:rPr lang="en-US" sz="1700" b="1" dirty="0">
                <a:solidFill>
                  <a:srgbClr val="2B3A67"/>
                </a:solidFill>
                <a:latin typeface="Segoe UI"/>
              </a:rPr>
              <a:t>Support sentiment is a LEADING indicator of revenue risk, not a lagging support metric — it's where customers are actively frustrated.</a:t>
            </a:r>
          </a:p>
          <a:p>
            <a:pPr marL="274320" indent="-274320" algn="l">
              <a:spcAft>
                <a:spcPts val="500"/>
              </a:spcAft>
              <a:buChar char="•"/>
            </a:pPr>
            <a:r>
              <a:rPr lang="en-US" sz="1700" dirty="0">
                <a:solidFill>
                  <a:srgbClr val="1D2433"/>
                </a:solidFill>
                <a:latin typeface="Segoe UI"/>
              </a:rPr>
              <a:t>Internal calls (3.42) run more negative than external (3.71): the team feels the strain (outage war-rooms, escalations) before — or more openly than — customers say it on renewal calls.</a:t>
            </a:r>
          </a:p>
          <a:p>
            <a:pPr marL="274320" indent="-274320" algn="l">
              <a:spcAft>
                <a:spcPts val="500"/>
              </a:spcAft>
              <a:buChar char="•"/>
            </a:pPr>
            <a:r>
              <a:rPr lang="en-US" sz="1700" b="1" dirty="0">
                <a:solidFill>
                  <a:srgbClr val="E4572E"/>
                </a:solidFill>
                <a:latin typeface="Segoe UI"/>
              </a:rPr>
              <a:t>Sentiment ALONE is a vanity chart. Tied to call type + churn signals it becomes a prioritisation tool: which accounts and which workflows to fix first.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838200" y="6500000"/>
            <a:ext cx="105156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Segoe UI"/>
              </a:rPr>
              <a:t>Transcript Intelligence  -  Take-Home Assignment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433"/>
          </a:solidFill>
          <a:ln>
            <a:noFill/>
          </a:ln>
        </p:spPr>
        <p:txBody>
          <a:bodyPr/>
          <a:p/>
        </p:txBody>
      </p:sp>
      <p:sp>
        <p:nvSpPr>
          <p:cNvPr id="3" name="band"/>
          <p:cNvSpPr/>
          <p:nvPr/>
        </p:nvSpPr>
        <p:spPr>
          <a:xfrm>
            <a:off x="0" y="2750000"/>
            <a:ext cx="220000" cy="1350000"/>
          </a:xfrm>
          <a:prstGeom prst="rect">
            <a:avLst/>
          </a:prstGeom>
          <a:solidFill>
            <a:srgbClr val="F3A712"/>
          </a:solidFill>
          <a:ln>
            <a:noFill/>
          </a:ln>
        </p:spPr>
        <p:txBody>
          <a:bodyPr/>
          <a:p/>
        </p:txBody>
      </p:sp>
      <p:sp>
        <p:nvSpPr>
          <p:cNvPr id="4" name="num"/>
          <p:cNvSpPr txBox="1"/>
          <p:nvPr/>
        </p:nvSpPr>
        <p:spPr>
          <a:xfrm>
            <a:off x="838200" y="2500000"/>
            <a:ext cx="10515600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3A712"/>
                </a:solidFill>
                <a:latin typeface="Segoe UI"/>
              </a:rPr>
              <a:t>TASK 3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838200" y="3000000"/>
            <a:ext cx="10515600" cy="11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Segoe UI"/>
              </a:rPr>
              <a:t>What Else Can You See?</a:t>
            </a:r>
          </a:p>
        </p:txBody>
      </p:sp>
      <p:sp>
        <p:nvSpPr>
          <p:cNvPr id="6" name="sub"/>
          <p:cNvSpPr txBox="1"/>
          <p:nvPr/>
        </p:nvSpPr>
        <p:spPr>
          <a:xfrm>
            <a:off x="838200" y="4150000"/>
            <a:ext cx="105156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700" dirty="0">
                <a:solidFill>
                  <a:srgbClr val="C3CBE0"/>
                </a:solidFill>
                <a:latin typeface="Segoe UI"/>
              </a:rPr>
              <a:t>Four non-obvious insights, one per stakeholder.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2000" cy="1280000"/>
          </a:xfrm>
          <a:prstGeom prst="rect">
            <a:avLst/>
          </a:prstGeom>
          <a:solidFill>
            <a:srgbClr val="2B3A67"/>
          </a:solidFill>
          <a:ln>
            <a:noFill/>
          </a:ln>
        </p:spPr>
        <p:txBody>
          <a:bodyPr/>
          <a:p/>
        </p:txBody>
      </p:sp>
      <p:sp>
        <p:nvSpPr>
          <p:cNvPr id="3" name="accentline"/>
          <p:cNvSpPr/>
          <p:nvPr/>
        </p:nvSpPr>
        <p:spPr>
          <a:xfrm>
            <a:off x="0" y="1280000"/>
            <a:ext cx="12192000" cy="36000"/>
          </a:xfrm>
          <a:prstGeom prst="rect">
            <a:avLst/>
          </a:prstGeom>
          <a:solidFill>
            <a:srgbClr val="F3A712"/>
          </a:solidFill>
          <a:ln>
            <a:noFill/>
          </a:ln>
        </p:spPr>
        <p:txBody>
          <a:bodyPr/>
          <a:p/>
        </p:txBody>
      </p:sp>
      <p:sp>
        <p:nvSpPr>
          <p:cNvPr id="4" name="eyebrow"/>
          <p:cNvSpPr txBox="1"/>
          <p:nvPr/>
        </p:nvSpPr>
        <p:spPr>
          <a:xfrm>
            <a:off x="838200" y="300000"/>
            <a:ext cx="105156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3A712"/>
                </a:solidFill>
                <a:latin typeface="Segoe UI"/>
              </a:rPr>
              <a:t>TASK 3 · FOR ENG + CS LEADERS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838200" y="620000"/>
            <a:ext cx="10515600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Segoe UI"/>
              </a:rPr>
              <a:t>1 · Outage blast-radius: incident → revenue map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838200" y="1560000"/>
            <a:ext cx="105156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50"/>
              </a:spcAft>
              <a:buNone/>
            </a:pPr>
            <a:r>
              <a:rPr lang="en-US" sz="1900" b="1" dirty="0">
                <a:solidFill>
                  <a:srgbClr val="2B3A67"/>
                </a:solidFill>
                <a:latin typeface="Segoe UI"/>
              </a:rPr>
              <a:t>Only 18 calls are ABOUT the Detect outage — but its ripples reach 46 calls across 23 customer accounts.</a:t>
            </a:r>
          </a:p>
          <a:p>
            <a:pPr marL="274320" indent="-274320" algn="l">
              <a:spcAft>
                <a:spcPts val="500"/>
              </a:spcAft>
              <a:buChar char="•"/>
            </a:pPr>
            <a:r>
              <a:rPr lang="en-US" sz="1700" dirty="0">
                <a:solidFill>
                  <a:srgbClr val="1D2433"/>
                </a:solidFill>
                <a:latin typeface="Segoe UI"/>
              </a:rPr>
              <a:t>Internally: war rooms &amp; post-mortems. Externally: renewal-risk and escalation calls referencing the same incident.</a:t>
            </a:r>
          </a:p>
          <a:p>
            <a:pPr marL="274320" indent="-274320" algn="l">
              <a:spcAft>
                <a:spcPts val="500"/>
              </a:spcAft>
              <a:buChar char="•"/>
            </a:pPr>
            <a:r>
              <a:rPr lang="en-US" sz="1700" dirty="0">
                <a:solidFill>
                  <a:srgbClr val="1D2433"/>
                </a:solidFill>
                <a:latin typeface="Segoe UI"/>
              </a:rPr>
              <a:t>Stitching the internal incident timeline to the external calls it generated gives a single 'one outage cost us THESE accounts' view.</a:t>
            </a:r>
          </a:p>
          <a:p>
            <a:pPr marL="274320" indent="-274320" algn="l">
              <a:spcAft>
                <a:spcPts val="500"/>
              </a:spcAft>
              <a:buChar char="•"/>
            </a:pPr>
            <a:r>
              <a:rPr lang="en-US" sz="1700" dirty="0">
                <a:solidFill>
                  <a:srgbClr val="6B7280"/>
                </a:solidFill>
                <a:latin typeface="Segoe UI"/>
              </a:rPr>
              <a:t>No single transcript shows this — only the aggregate does. It's the artefact that justifies reliability investment.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838200" y="6500000"/>
            <a:ext cx="105156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Segoe UI"/>
              </a:rPr>
              <a:t>Transcript Intelligence  -  Take-Home Assignment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2000" cy="1280000"/>
          </a:xfrm>
          <a:prstGeom prst="rect">
            <a:avLst/>
          </a:prstGeom>
          <a:solidFill>
            <a:srgbClr val="F3A712"/>
          </a:solidFill>
          <a:ln>
            <a:noFill/>
          </a:ln>
        </p:spPr>
        <p:txBody>
          <a:bodyPr/>
          <a:p/>
        </p:txBody>
      </p:sp>
      <p:sp>
        <p:nvSpPr>
          <p:cNvPr id="3" name="accentline"/>
          <p:cNvSpPr/>
          <p:nvPr/>
        </p:nvSpPr>
        <p:spPr>
          <a:xfrm>
            <a:off x="0" y="1280000"/>
            <a:ext cx="12192000" cy="36000"/>
          </a:xfrm>
          <a:prstGeom prst="rect">
            <a:avLst/>
          </a:prstGeom>
          <a:solidFill>
            <a:srgbClr val="F3A712"/>
          </a:solidFill>
          <a:ln>
            <a:noFill/>
          </a:ln>
        </p:spPr>
        <p:txBody>
          <a:bodyPr/>
          <a:p/>
        </p:txBody>
      </p:sp>
      <p:sp>
        <p:nvSpPr>
          <p:cNvPr id="4" name="eyebrow"/>
          <p:cNvSpPr txBox="1"/>
          <p:nvPr/>
        </p:nvSpPr>
        <p:spPr>
          <a:xfrm>
            <a:off x="838200" y="300000"/>
            <a:ext cx="105156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3A712"/>
                </a:solidFill>
                <a:latin typeface="Segoe UI"/>
              </a:rPr>
              <a:t>TASK 3 · FOR CS + SALES LEADERS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838200" y="620000"/>
            <a:ext cx="10515600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Segoe UI"/>
              </a:rPr>
              <a:t>2 · Churn-risk early-warning board</a:t>
            </a:r>
          </a:p>
        </p:txBody>
      </p:sp>
      <p:sp>
        <p:nvSpPr>
          <p:cNvPr id="6" name="h0"/>
          <p:cNvSpPr txBox="1"/>
          <p:nvPr/>
        </p:nvSpPr>
        <p:spPr>
          <a:xfrm>
            <a:off x="838200" y="1620000"/>
            <a:ext cx="43618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6B7280"/>
                </a:solidFill>
                <a:latin typeface="Segoe UI"/>
              </a:rPr>
              <a:t>Account</a:t>
            </a:r>
          </a:p>
        </p:txBody>
      </p:sp>
      <p:sp>
        <p:nvSpPr>
          <p:cNvPr id="7" name="h1"/>
          <p:cNvSpPr txBox="1"/>
          <p:nvPr/>
        </p:nvSpPr>
        <p:spPr>
          <a:xfrm>
            <a:off x="5200000" y="1620000"/>
            <a:ext cx="150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6B7280"/>
                </a:solidFill>
                <a:latin typeface="Segoe UI"/>
              </a:rPr>
              <a:t>Calls</a:t>
            </a:r>
          </a:p>
        </p:txBody>
      </p:sp>
      <p:sp>
        <p:nvSpPr>
          <p:cNvPr id="8" name="h2"/>
          <p:cNvSpPr txBox="1"/>
          <p:nvPr/>
        </p:nvSpPr>
        <p:spPr>
          <a:xfrm>
            <a:off x="6700000" y="1620000"/>
            <a:ext cx="290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6B7280"/>
                </a:solidFill>
                <a:latin typeface="Segoe UI"/>
              </a:rPr>
              <a:t>Calls w/ churn signal</a:t>
            </a:r>
          </a:p>
        </p:txBody>
      </p:sp>
      <p:sp>
        <p:nvSpPr>
          <p:cNvPr id="9" name="h3"/>
          <p:cNvSpPr txBox="1"/>
          <p:nvPr/>
        </p:nvSpPr>
        <p:spPr>
          <a:xfrm>
            <a:off x="9600000" y="1620000"/>
            <a:ext cx="200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6B7280"/>
                </a:solidFill>
                <a:latin typeface="Segoe UI"/>
              </a:rPr>
              <a:t>Avg sentiment</a:t>
            </a:r>
          </a:p>
        </p:txBody>
      </p:sp>
      <p:sp>
        <p:nvSpPr>
          <p:cNvPr id="10" name="rowbg0"/>
          <p:cNvSpPr/>
          <p:nvPr/>
        </p:nvSpPr>
        <p:spPr>
          <a:xfrm>
            <a:off x="760000" y="2050000"/>
            <a:ext cx="10672000" cy="430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/>
          <a:p/>
        </p:txBody>
      </p:sp>
      <p:sp>
        <p:nvSpPr>
          <p:cNvPr id="11" name="c0_0"/>
          <p:cNvSpPr txBox="1"/>
          <p:nvPr/>
        </p:nvSpPr>
        <p:spPr>
          <a:xfrm>
            <a:off x="838200" y="2090000"/>
            <a:ext cx="43618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2433"/>
                </a:solidFill>
                <a:latin typeface="Segoe UI"/>
              </a:rPr>
              <a:t>ridgelinelogistics.com</a:t>
            </a:r>
          </a:p>
        </p:txBody>
      </p:sp>
      <p:sp>
        <p:nvSpPr>
          <p:cNvPr id="12" name="c0_1"/>
          <p:cNvSpPr txBox="1"/>
          <p:nvPr/>
        </p:nvSpPr>
        <p:spPr>
          <a:xfrm>
            <a:off x="5200000" y="2090000"/>
            <a:ext cx="15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1D2433"/>
                </a:solidFill>
                <a:latin typeface="Segoe UI"/>
              </a:rPr>
              <a:t>3</a:t>
            </a:r>
          </a:p>
        </p:txBody>
      </p:sp>
      <p:sp>
        <p:nvSpPr>
          <p:cNvPr id="13" name="c0_2"/>
          <p:cNvSpPr txBox="1"/>
          <p:nvPr/>
        </p:nvSpPr>
        <p:spPr>
          <a:xfrm>
            <a:off x="6700000" y="2090000"/>
            <a:ext cx="29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4572E"/>
                </a:solidFill>
                <a:latin typeface="Segoe UI"/>
              </a:rPr>
              <a:t>3</a:t>
            </a:r>
          </a:p>
        </p:txBody>
      </p:sp>
      <p:sp>
        <p:nvSpPr>
          <p:cNvPr id="14" name="c0_3"/>
          <p:cNvSpPr txBox="1"/>
          <p:nvPr/>
        </p:nvSpPr>
        <p:spPr>
          <a:xfrm>
            <a:off x="9600000" y="2090000"/>
            <a:ext cx="20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4572E"/>
                </a:solidFill>
                <a:latin typeface="Segoe UI"/>
              </a:rPr>
              <a:t>2.63</a:t>
            </a:r>
          </a:p>
        </p:txBody>
      </p:sp>
      <p:sp>
        <p:nvSpPr>
          <p:cNvPr id="15" name="rowbg1"/>
          <p:cNvSpPr/>
          <p:nvPr/>
        </p:nvSpPr>
        <p:spPr>
          <a:xfrm>
            <a:off x="760000" y="2480000"/>
            <a:ext cx="10672000" cy="4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16" name="c1_0"/>
          <p:cNvSpPr txBox="1"/>
          <p:nvPr/>
        </p:nvSpPr>
        <p:spPr>
          <a:xfrm>
            <a:off x="838200" y="2520000"/>
            <a:ext cx="43618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2433"/>
                </a:solidFill>
                <a:latin typeface="Segoe UI"/>
              </a:rPr>
              <a:t>meridiancapital.com</a:t>
            </a:r>
          </a:p>
        </p:txBody>
      </p:sp>
      <p:sp>
        <p:nvSpPr>
          <p:cNvPr id="17" name="c1_1"/>
          <p:cNvSpPr txBox="1"/>
          <p:nvPr/>
        </p:nvSpPr>
        <p:spPr>
          <a:xfrm>
            <a:off x="5200000" y="2520000"/>
            <a:ext cx="15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1D2433"/>
                </a:solidFill>
                <a:latin typeface="Segoe UI"/>
              </a:rPr>
              <a:t>3</a:t>
            </a:r>
          </a:p>
        </p:txBody>
      </p:sp>
      <p:sp>
        <p:nvSpPr>
          <p:cNvPr id="18" name="c1_2"/>
          <p:cNvSpPr txBox="1"/>
          <p:nvPr/>
        </p:nvSpPr>
        <p:spPr>
          <a:xfrm>
            <a:off x="6700000" y="2520000"/>
            <a:ext cx="29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4572E"/>
                </a:solidFill>
                <a:latin typeface="Segoe UI"/>
              </a:rPr>
              <a:t>3</a:t>
            </a:r>
          </a:p>
        </p:txBody>
      </p:sp>
      <p:sp>
        <p:nvSpPr>
          <p:cNvPr id="19" name="c1_3"/>
          <p:cNvSpPr txBox="1"/>
          <p:nvPr/>
        </p:nvSpPr>
        <p:spPr>
          <a:xfrm>
            <a:off x="9600000" y="2520000"/>
            <a:ext cx="20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3A712"/>
                </a:solidFill>
                <a:latin typeface="Segoe UI"/>
              </a:rPr>
              <a:t>3.17</a:t>
            </a:r>
          </a:p>
        </p:txBody>
      </p:sp>
      <p:sp>
        <p:nvSpPr>
          <p:cNvPr id="20" name="rowbg2"/>
          <p:cNvSpPr/>
          <p:nvPr/>
        </p:nvSpPr>
        <p:spPr>
          <a:xfrm>
            <a:off x="760000" y="2910000"/>
            <a:ext cx="10672000" cy="430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/>
          <a:p/>
        </p:txBody>
      </p:sp>
      <p:sp>
        <p:nvSpPr>
          <p:cNvPr id="21" name="c2_0"/>
          <p:cNvSpPr txBox="1"/>
          <p:nvPr/>
        </p:nvSpPr>
        <p:spPr>
          <a:xfrm>
            <a:off x="838200" y="2950000"/>
            <a:ext cx="43618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2433"/>
                </a:solidFill>
                <a:latin typeface="Segoe UI"/>
              </a:rPr>
              <a:t>vantahealth.com</a:t>
            </a:r>
          </a:p>
        </p:txBody>
      </p:sp>
      <p:sp>
        <p:nvSpPr>
          <p:cNvPr id="22" name="c2_1"/>
          <p:cNvSpPr txBox="1"/>
          <p:nvPr/>
        </p:nvSpPr>
        <p:spPr>
          <a:xfrm>
            <a:off x="5200000" y="2950000"/>
            <a:ext cx="15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1D2433"/>
                </a:solidFill>
                <a:latin typeface="Segoe UI"/>
              </a:rPr>
              <a:t>3</a:t>
            </a:r>
          </a:p>
        </p:txBody>
      </p:sp>
      <p:sp>
        <p:nvSpPr>
          <p:cNvPr id="23" name="c2_2"/>
          <p:cNvSpPr txBox="1"/>
          <p:nvPr/>
        </p:nvSpPr>
        <p:spPr>
          <a:xfrm>
            <a:off x="6700000" y="2950000"/>
            <a:ext cx="29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4572E"/>
                </a:solidFill>
                <a:latin typeface="Segoe UI"/>
              </a:rPr>
              <a:t>3</a:t>
            </a:r>
          </a:p>
        </p:txBody>
      </p:sp>
      <p:sp>
        <p:nvSpPr>
          <p:cNvPr id="24" name="c2_3"/>
          <p:cNvSpPr txBox="1"/>
          <p:nvPr/>
        </p:nvSpPr>
        <p:spPr>
          <a:xfrm>
            <a:off x="9600000" y="2950000"/>
            <a:ext cx="20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3A712"/>
                </a:solidFill>
                <a:latin typeface="Segoe UI"/>
              </a:rPr>
              <a:t>3.17</a:t>
            </a:r>
          </a:p>
        </p:txBody>
      </p:sp>
      <p:sp>
        <p:nvSpPr>
          <p:cNvPr id="25" name="rowbg3"/>
          <p:cNvSpPr/>
          <p:nvPr/>
        </p:nvSpPr>
        <p:spPr>
          <a:xfrm>
            <a:off x="760000" y="3340000"/>
            <a:ext cx="10672000" cy="4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6" name="c3_0"/>
          <p:cNvSpPr txBox="1"/>
          <p:nvPr/>
        </p:nvSpPr>
        <p:spPr>
          <a:xfrm>
            <a:off x="838200" y="3380000"/>
            <a:ext cx="43618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2433"/>
                </a:solidFill>
                <a:latin typeface="Segoe UI"/>
              </a:rPr>
              <a:t>brightpathcommerce.com</a:t>
            </a:r>
          </a:p>
        </p:txBody>
      </p:sp>
      <p:sp>
        <p:nvSpPr>
          <p:cNvPr id="27" name="c3_1"/>
          <p:cNvSpPr txBox="1"/>
          <p:nvPr/>
        </p:nvSpPr>
        <p:spPr>
          <a:xfrm>
            <a:off x="5200000" y="3380000"/>
            <a:ext cx="15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1D2433"/>
                </a:solidFill>
                <a:latin typeface="Segoe UI"/>
              </a:rPr>
              <a:t>4</a:t>
            </a:r>
          </a:p>
        </p:txBody>
      </p:sp>
      <p:sp>
        <p:nvSpPr>
          <p:cNvPr id="28" name="c3_2"/>
          <p:cNvSpPr txBox="1"/>
          <p:nvPr/>
        </p:nvSpPr>
        <p:spPr>
          <a:xfrm>
            <a:off x="6700000" y="3380000"/>
            <a:ext cx="29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4572E"/>
                </a:solidFill>
                <a:latin typeface="Segoe UI"/>
              </a:rPr>
              <a:t>3</a:t>
            </a:r>
          </a:p>
        </p:txBody>
      </p:sp>
      <p:sp>
        <p:nvSpPr>
          <p:cNvPr id="29" name="c3_3"/>
          <p:cNvSpPr txBox="1"/>
          <p:nvPr/>
        </p:nvSpPr>
        <p:spPr>
          <a:xfrm>
            <a:off x="9600000" y="3380000"/>
            <a:ext cx="20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3A712"/>
                </a:solidFill>
                <a:latin typeface="Segoe UI"/>
              </a:rPr>
              <a:t>3.25</a:t>
            </a:r>
          </a:p>
        </p:txBody>
      </p:sp>
      <p:sp>
        <p:nvSpPr>
          <p:cNvPr id="30" name="rowbg4"/>
          <p:cNvSpPr/>
          <p:nvPr/>
        </p:nvSpPr>
        <p:spPr>
          <a:xfrm>
            <a:off x="760000" y="3770000"/>
            <a:ext cx="10672000" cy="430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/>
          <a:p/>
        </p:txBody>
      </p:sp>
      <p:sp>
        <p:nvSpPr>
          <p:cNvPr id="31" name="c4_0"/>
          <p:cNvSpPr txBox="1"/>
          <p:nvPr/>
        </p:nvSpPr>
        <p:spPr>
          <a:xfrm>
            <a:off x="838200" y="3810000"/>
            <a:ext cx="43618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2433"/>
                </a:solidFill>
                <a:latin typeface="Segoe UI"/>
              </a:rPr>
              <a:t>northstarpharma.com</a:t>
            </a:r>
          </a:p>
        </p:txBody>
      </p:sp>
      <p:sp>
        <p:nvSpPr>
          <p:cNvPr id="32" name="c4_1"/>
          <p:cNvSpPr txBox="1"/>
          <p:nvPr/>
        </p:nvSpPr>
        <p:spPr>
          <a:xfrm>
            <a:off x="5200000" y="3810000"/>
            <a:ext cx="15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1D2433"/>
                </a:solidFill>
                <a:latin typeface="Segoe UI"/>
              </a:rPr>
              <a:t>2</a:t>
            </a:r>
          </a:p>
        </p:txBody>
      </p:sp>
      <p:sp>
        <p:nvSpPr>
          <p:cNvPr id="33" name="c4_2"/>
          <p:cNvSpPr txBox="1"/>
          <p:nvPr/>
        </p:nvSpPr>
        <p:spPr>
          <a:xfrm>
            <a:off x="6700000" y="3810000"/>
            <a:ext cx="29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4572E"/>
                </a:solidFill>
                <a:latin typeface="Segoe UI"/>
              </a:rPr>
              <a:t>2</a:t>
            </a:r>
          </a:p>
        </p:txBody>
      </p:sp>
      <p:sp>
        <p:nvSpPr>
          <p:cNvPr id="34" name="c4_3"/>
          <p:cNvSpPr txBox="1"/>
          <p:nvPr/>
        </p:nvSpPr>
        <p:spPr>
          <a:xfrm>
            <a:off x="9600000" y="3810000"/>
            <a:ext cx="20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4572E"/>
                </a:solidFill>
                <a:latin typeface="Segoe UI"/>
              </a:rPr>
              <a:t>2.1</a:t>
            </a:r>
          </a:p>
        </p:txBody>
      </p:sp>
      <p:sp>
        <p:nvSpPr>
          <p:cNvPr id="35" name="rowbg5"/>
          <p:cNvSpPr/>
          <p:nvPr/>
        </p:nvSpPr>
        <p:spPr>
          <a:xfrm>
            <a:off x="760000" y="4200000"/>
            <a:ext cx="10672000" cy="4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6" name="c5_0"/>
          <p:cNvSpPr txBox="1"/>
          <p:nvPr/>
        </p:nvSpPr>
        <p:spPr>
          <a:xfrm>
            <a:off x="838200" y="4240000"/>
            <a:ext cx="43618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2433"/>
                </a:solidFill>
                <a:latin typeface="Segoe UI"/>
              </a:rPr>
              <a:t>novaretail.com</a:t>
            </a:r>
          </a:p>
        </p:txBody>
      </p:sp>
      <p:sp>
        <p:nvSpPr>
          <p:cNvPr id="37" name="c5_1"/>
          <p:cNvSpPr txBox="1"/>
          <p:nvPr/>
        </p:nvSpPr>
        <p:spPr>
          <a:xfrm>
            <a:off x="5200000" y="4240000"/>
            <a:ext cx="15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1D2433"/>
                </a:solidFill>
                <a:latin typeface="Segoe UI"/>
              </a:rPr>
              <a:t>2</a:t>
            </a:r>
          </a:p>
        </p:txBody>
      </p:sp>
      <p:sp>
        <p:nvSpPr>
          <p:cNvPr id="38" name="c5_2"/>
          <p:cNvSpPr txBox="1"/>
          <p:nvPr/>
        </p:nvSpPr>
        <p:spPr>
          <a:xfrm>
            <a:off x="6700000" y="4240000"/>
            <a:ext cx="29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4572E"/>
                </a:solidFill>
                <a:latin typeface="Segoe UI"/>
              </a:rPr>
              <a:t>2</a:t>
            </a:r>
          </a:p>
        </p:txBody>
      </p:sp>
      <p:sp>
        <p:nvSpPr>
          <p:cNvPr id="39" name="c5_3"/>
          <p:cNvSpPr txBox="1"/>
          <p:nvPr/>
        </p:nvSpPr>
        <p:spPr>
          <a:xfrm>
            <a:off x="9600000" y="4240000"/>
            <a:ext cx="20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4572E"/>
                </a:solidFill>
                <a:latin typeface="Segoe UI"/>
              </a:rPr>
              <a:t>2.45</a:t>
            </a:r>
          </a:p>
        </p:txBody>
      </p:sp>
      <p:sp>
        <p:nvSpPr>
          <p:cNvPr id="40" name="note"/>
          <p:cNvSpPr txBox="1"/>
          <p:nvPr/>
        </p:nvSpPr>
        <p:spPr>
          <a:xfrm>
            <a:off x="838200" y="4790000"/>
            <a:ext cx="10515600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B7280"/>
                </a:solidFill>
                <a:latin typeface="Segoe UI"/>
              </a:rPr>
              <a:t>Low sentiment + a churn_signal moment across an account's calls = a ranked watch-list to action BEFORE the renewal conversation goes bad.</a:t>
            </a:r>
          </a:p>
        </p:txBody>
      </p:sp>
      <p:sp>
        <p:nvSpPr>
          <p:cNvPr id="41" name="footer"/>
          <p:cNvSpPr txBox="1"/>
          <p:nvPr/>
        </p:nvSpPr>
        <p:spPr>
          <a:xfrm>
            <a:off x="838200" y="6500000"/>
            <a:ext cx="105156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Segoe UI"/>
              </a:rPr>
              <a:t>Transcript Intelligence  -  Take-Home Assignment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2000" cy="1280000"/>
          </a:xfrm>
          <a:prstGeom prst="rect">
            <a:avLst/>
          </a:prstGeom>
          <a:solidFill>
            <a:srgbClr val="2B3A67"/>
          </a:solidFill>
          <a:ln>
            <a:noFill/>
          </a:ln>
        </p:spPr>
        <p:txBody>
          <a:bodyPr/>
          <a:p/>
        </p:txBody>
      </p:sp>
      <p:sp>
        <p:nvSpPr>
          <p:cNvPr id="3" name="accentline"/>
          <p:cNvSpPr/>
          <p:nvPr/>
        </p:nvSpPr>
        <p:spPr>
          <a:xfrm>
            <a:off x="0" y="1280000"/>
            <a:ext cx="12192000" cy="36000"/>
          </a:xfrm>
          <a:prstGeom prst="rect">
            <a:avLst/>
          </a:prstGeom>
          <a:solidFill>
            <a:srgbClr val="F3A712"/>
          </a:solidFill>
          <a:ln>
            <a:noFill/>
          </a:ln>
        </p:spPr>
        <p:txBody>
          <a:bodyPr/>
          <a:p/>
        </p:txBody>
      </p:sp>
      <p:sp>
        <p:nvSpPr>
          <p:cNvPr id="4" name="eyebrow"/>
          <p:cNvSpPr txBox="1"/>
          <p:nvPr/>
        </p:nvSpPr>
        <p:spPr>
          <a:xfrm>
            <a:off x="838200" y="300000"/>
            <a:ext cx="105156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3A712"/>
                </a:solidFill>
                <a:latin typeface="Segoe UI"/>
              </a:rPr>
              <a:t>TASK 3 · FOR PRODUCT + EVERY LEADER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838200" y="620000"/>
            <a:ext cx="10515600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Segoe UI"/>
              </a:rPr>
              <a:t>3 · Feature-gap demand   ·   4 · Action-item ledger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838200" y="1560000"/>
            <a:ext cx="105156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274320" indent="-274320" algn="l">
              <a:spcAft>
                <a:spcPts val="500"/>
              </a:spcAft>
              <a:buChar char="•"/>
            </a:pPr>
            <a:r>
              <a:rPr lang="en-US" sz="1700" b="1" dirty="0">
                <a:solidFill>
                  <a:srgbClr val="2B3A67"/>
                </a:solidFill>
                <a:latin typeface="Segoe UI"/>
              </a:rPr>
              <a:t>Feature-gap demand (Product): feature_gap moments appear across 49 calls. Rolled up, scattered asks become a DEMAND-WEIGHTED backlog — 'how many paying accounts asked for X' — far more persuasive than one loud customer.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en-US" sz="600" dirty="0">
                <a:solidFill>
                  <a:srgbClr val="1D2433"/>
                </a:solidFill>
                <a:latin typeface="Segoe UI"/>
              </a:rPr>
              <a:t> </a:t>
            </a:r>
          </a:p>
          <a:p>
            <a:pPr marL="274320" indent="-274320" algn="l">
              <a:spcAft>
                <a:spcPts val="500"/>
              </a:spcAft>
              <a:buChar char="•"/>
            </a:pPr>
            <a:r>
              <a:rPr lang="en-US" sz="1700" b="1" dirty="0">
                <a:solidFill>
                  <a:srgbClr val="2B3A67"/>
                </a:solidFill>
                <a:latin typeface="Segoe UI"/>
              </a:rPr>
              <a:t>Action-item ledger (everyone): every call carries actionItems with named owners. Grouping them by owner/account builds a cross-call commitment ledger — and checking whether the NEXT call references them as done is a cheap follow-through metric invisible in any single transcript.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838200" y="6500000"/>
            <a:ext cx="105156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Segoe UI"/>
              </a:rPr>
              <a:t>Transcript Intelligence  -  Take-Home Assignment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2000" cy="1280000"/>
          </a:xfrm>
          <a:prstGeom prst="rect">
            <a:avLst/>
          </a:prstGeom>
          <a:solidFill>
            <a:srgbClr val="2B3A67"/>
          </a:solidFill>
          <a:ln>
            <a:noFill/>
          </a:ln>
        </p:spPr>
        <p:txBody>
          <a:bodyPr/>
          <a:p/>
        </p:txBody>
      </p:sp>
      <p:sp>
        <p:nvSpPr>
          <p:cNvPr id="3" name="accentline"/>
          <p:cNvSpPr/>
          <p:nvPr/>
        </p:nvSpPr>
        <p:spPr>
          <a:xfrm>
            <a:off x="0" y="1280000"/>
            <a:ext cx="12192000" cy="36000"/>
          </a:xfrm>
          <a:prstGeom prst="rect">
            <a:avLst/>
          </a:prstGeom>
          <a:solidFill>
            <a:srgbClr val="F3A712"/>
          </a:solidFill>
          <a:ln>
            <a:noFill/>
          </a:ln>
        </p:spPr>
        <p:txBody>
          <a:bodyPr/>
          <a:p/>
        </p:txBody>
      </p:sp>
      <p:sp>
        <p:nvSpPr>
          <p:cNvPr id="4" name="eyebrow"/>
          <p:cNvSpPr txBox="1"/>
          <p:nvPr/>
        </p:nvSpPr>
        <p:spPr>
          <a:xfrm>
            <a:off x="838200" y="300000"/>
            <a:ext cx="105156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3A712"/>
                </a:solidFill>
                <a:latin typeface="Segoe UI"/>
              </a:rPr>
              <a:t>REPRODUCIBILITY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838200" y="620000"/>
            <a:ext cx="10515600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Segoe UI"/>
              </a:rPr>
              <a:t>Deliverables &amp; how to run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838200" y="1560000"/>
            <a:ext cx="105156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274320" indent="-274320" algn="l">
              <a:spcAft>
                <a:spcPts val="500"/>
              </a:spcAft>
              <a:buChar char="•"/>
            </a:pPr>
            <a:r>
              <a:rPr lang="en-US" sz="1550" dirty="0">
                <a:solidFill>
                  <a:srgbClr val="1D2433"/>
                </a:solidFill>
                <a:latin typeface="Segoe UI"/>
              </a:rPr>
              <a:t>python pipeline.py  →  regenerates results.json, insights.md, report.html</a:t>
            </a:r>
          </a:p>
          <a:p>
            <a:pPr marL="274320" indent="-274320" algn="l">
              <a:spcAft>
                <a:spcPts val="500"/>
              </a:spcAft>
              <a:buChar char="•"/>
            </a:pPr>
            <a:r>
              <a:rPr lang="en-US" sz="1550" dirty="0">
                <a:solidFill>
                  <a:srgbClr val="1D2433"/>
                </a:solidFill>
                <a:latin typeface="Segoe UI"/>
              </a:rPr>
              <a:t>python make_ppt.py  →  regenerates this deck (.pptx)</a:t>
            </a:r>
          </a:p>
          <a:p>
            <a:pPr marL="274320" indent="-274320" algn="l">
              <a:spcAft>
                <a:spcPts val="500"/>
              </a:spcAft>
              <a:buChar char="•"/>
            </a:pPr>
            <a:r>
              <a:rPr lang="en-US" sz="1550" dirty="0">
                <a:solidFill>
                  <a:srgbClr val="1D2433"/>
                </a:solidFill>
                <a:latin typeface="Segoe UI"/>
              </a:rPr>
              <a:t>python -m unittest  →  20 tests (logic + dataset invariants), all green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en-US" sz="400" dirty="0">
                <a:solidFill>
                  <a:srgbClr val="1D2433"/>
                </a:solidFill>
                <a:latin typeface="Segoe UI"/>
              </a:rPr>
              <a:t> </a:t>
            </a:r>
          </a:p>
          <a:p>
            <a:pPr marL="274320" indent="-274320" algn="l">
              <a:spcAft>
                <a:spcPts val="500"/>
              </a:spcAft>
              <a:buChar char="•"/>
            </a:pPr>
            <a:r>
              <a:rPr lang="en-US" sz="1500" dirty="0">
                <a:solidFill>
                  <a:srgbClr val="6B7280"/>
                </a:solidFill>
                <a:latin typeface="Segoe UI"/>
              </a:rPr>
              <a:t>Dependency-free Python stdlib; dataset used as-is, nothing relabelled or synthesised</a:t>
            </a:r>
          </a:p>
          <a:p>
            <a:pPr marL="274320" indent="-274320" algn="l">
              <a:spcAft>
                <a:spcPts val="500"/>
              </a:spcAft>
              <a:buChar char="•"/>
            </a:pPr>
            <a:r>
              <a:rPr lang="en-US" sz="1500" dirty="0">
                <a:solidFill>
                  <a:srgbClr val="6B7280"/>
                </a:solidFill>
                <a:latin typeface="Segoe UI"/>
              </a:rPr>
              <a:t>Upstream sentiment/key-moment labels treated as FEATURES, not ground truth — validate with a spot-check before acting on the churn board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838200" y="6500000"/>
            <a:ext cx="105156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Segoe UI"/>
              </a:rPr>
              <a:t>Transcript Intelligence  -  Take-Home Assignment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2000" cy="1280000"/>
          </a:xfrm>
          <a:prstGeom prst="rect">
            <a:avLst/>
          </a:prstGeom>
          <a:solidFill>
            <a:srgbClr val="2B3A67"/>
          </a:solidFill>
          <a:ln>
            <a:noFill/>
          </a:ln>
        </p:spPr>
        <p:txBody>
          <a:bodyPr/>
          <a:p/>
        </p:txBody>
      </p:sp>
      <p:sp>
        <p:nvSpPr>
          <p:cNvPr id="3" name="accentline"/>
          <p:cNvSpPr/>
          <p:nvPr/>
        </p:nvSpPr>
        <p:spPr>
          <a:xfrm>
            <a:off x="0" y="1280000"/>
            <a:ext cx="12192000" cy="36000"/>
          </a:xfrm>
          <a:prstGeom prst="rect">
            <a:avLst/>
          </a:prstGeom>
          <a:solidFill>
            <a:srgbClr val="F3A712"/>
          </a:solidFill>
          <a:ln>
            <a:noFill/>
          </a:ln>
        </p:spPr>
        <p:txBody>
          <a:bodyPr/>
          <a:p/>
        </p:txBody>
      </p:sp>
      <p:sp>
        <p:nvSpPr>
          <p:cNvPr id="4" name="eyebrow"/>
          <p:cNvSpPr txBox="1"/>
          <p:nvPr/>
        </p:nvSpPr>
        <p:spPr>
          <a:xfrm>
            <a:off x="838200" y="300000"/>
            <a:ext cx="105156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3A712"/>
                </a:solidFill>
                <a:latin typeface="Segoe UI"/>
              </a:rPr>
              <a:t>THE BOTTOM LINE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838200" y="620000"/>
            <a:ext cx="10515600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Segoe UI"/>
              </a:rPr>
              <a:t>Conclusion &amp; recommendations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838200" y="1560000"/>
            <a:ext cx="105156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274320" indent="-274320" algn="l">
              <a:spcAft>
                <a:spcPts val="500"/>
              </a:spcAft>
              <a:buChar char="•"/>
            </a:pPr>
            <a:r>
              <a:rPr lang="en-US" sz="1700" b="1" dirty="0">
                <a:solidFill>
                  <a:srgbClr val="1D2433"/>
                </a:solidFill>
                <a:latin typeface="Segoe UI"/>
              </a:rPr>
              <a:t>Pain is concentrated, not spread evenly — spend the next reliability/CS dollar on the Bug &amp; Outage workflows, not everywhere.</a:t>
            </a:r>
          </a:p>
          <a:p>
            <a:pPr marL="274320" indent="-274320" algn="l">
              <a:spcAft>
                <a:spcPts val="500"/>
              </a:spcAft>
              <a:buChar char="•"/>
            </a:pPr>
            <a:r>
              <a:rPr lang="en-US" sz="1700" b="1" dirty="0">
                <a:solidFill>
                  <a:srgbClr val="1D2433"/>
                </a:solidFill>
                <a:latin typeface="Segoe UI"/>
              </a:rPr>
              <a:t>One incident, many invoices at risk — the Detect outage links an internal reliability problem to 23 at-risk accounts.</a:t>
            </a:r>
          </a:p>
          <a:p>
            <a:pPr marL="274320" indent="-274320" algn="l">
              <a:spcAft>
                <a:spcPts val="500"/>
              </a:spcAft>
              <a:buChar char="•"/>
            </a:pPr>
            <a:r>
              <a:rPr lang="en-US" sz="1700" b="1" dirty="0">
                <a:solidFill>
                  <a:srgbClr val="1D2433"/>
                </a:solidFill>
                <a:latin typeface="Segoe UI"/>
              </a:rPr>
              <a:t>The same enrichment pass serves four leaders — CS, Sales, Product, Engineering — which is the real product thesis.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en-US" sz="400" dirty="0">
                <a:solidFill>
                  <a:srgbClr val="1D2433"/>
                </a:solidFill>
                <a:latin typeface="Segoe UI"/>
              </a:rPr>
              <a:t> 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en-US" sz="1550" dirty="0">
                <a:solidFill>
                  <a:srgbClr val="6B7280"/>
                </a:solidFill>
                <a:latin typeface="Segoe UI"/>
              </a:rPr>
              <a:t>Next: validate the labels, add embedding clustering to discover emergent themes at scale, and close the loop on action-item follow-through.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838200" y="6500000"/>
            <a:ext cx="105156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marL="0" indent="0" algn="l">
              <a:spcAft>
                <a:spcPts val="6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Segoe UI"/>
              </a:rPr>
              <a:t>Transcript Intelligence  -  Take-Home Assignment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D2433"/>
      </a:dk1>
      <a:lt1>
        <a:srgbClr val="FFFFFF"/>
      </a:lt1>
      <a:dk2>
        <a:srgbClr val="2B3A67"/>
      </a:dk2>
      <a:lt2>
        <a:srgbClr val="F5F6F8"/>
      </a:lt2>
      <a:accent1>
        <a:srgbClr val="2B3A67"/>
      </a:accent1>
      <a:accent2>
        <a:srgbClr val="F3A712"/>
      </a:accent2>
      <a:accent3>
        <a:srgbClr val="E4572E"/>
      </a:accent3>
      <a:accent4>
        <a:srgbClr val="2F9E44"/>
      </a:accent4>
      <a:accent5>
        <a:srgbClr val="4C6EF5"/>
      </a:accent5>
      <a:accent6>
        <a:srgbClr val="6B7280"/>
      </a:accent6>
      <a:hlink>
        <a:srgbClr val="4C6EF5"/>
      </a:hlink>
      <a:folHlink>
        <a:srgbClr val="6B7280"/>
      </a:folHlink>
    </a:clrScheme>
    <a:fontScheme name="Offic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